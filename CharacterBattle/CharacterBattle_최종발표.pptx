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7d5d6fc04f41b2" /><Relationship Type="http://schemas.openxmlformats.org/officeDocument/2006/relationships/extended-properties" Target="/docProps/app.xml" Id="Rca87c2cd656f48e5" /><Relationship Type="http://schemas.openxmlformats.org/officeDocument/2006/relationships/officeDocument" Target="/ppt/presentation.xml" Id="R419e34298b6b4968" /></Relationships>
</file>

<file path=ppt/presentation.xml><?xml version="1.0" encoding="utf-8"?>
<p:presentation xmlns:p="http://schemas.openxmlformats.org/presentationml/2006/main">
  <p:sldMasterIdLst>
    <p:sldMasterId xmlns:r="http://schemas.openxmlformats.org/officeDocument/2006/relationships" id="2147483648" r:id="R996f38093da541d3"/>
  </p:sldMasterIdLst>
  <p:notesMasterIdLst>
    <p:notesMasterId xmlns:r="http://schemas.openxmlformats.org/officeDocument/2006/relationships" r:id="Rb5f83fbdb7bb4134"/>
  </p:notesMasterIdLst>
  <p:sldIdLst>
    <p:sldId xmlns:r="http://schemas.openxmlformats.org/officeDocument/2006/relationships" id="256" r:id="R8191c1bdc0364a38"/>
    <p:sldId xmlns:r="http://schemas.openxmlformats.org/officeDocument/2006/relationships" id="257" r:id="R758c8c8327e0488e"/>
    <p:sldId xmlns:r="http://schemas.openxmlformats.org/officeDocument/2006/relationships" id="258" r:id="Rc2f69bf49da94ea9"/>
    <p:sldId xmlns:r="http://schemas.openxmlformats.org/officeDocument/2006/relationships" id="259" r:id="R3990ed9ad8674279"/>
    <p:sldId xmlns:r="http://schemas.openxmlformats.org/officeDocument/2006/relationships" id="260" r:id="R56974564bdd34664"/>
    <p:sldId xmlns:r="http://schemas.openxmlformats.org/officeDocument/2006/relationships" id="261" r:id="Rb145b6bdfc224fad"/>
    <p:sldId xmlns:r="http://schemas.openxmlformats.org/officeDocument/2006/relationships" id="262" r:id="R27932980f53f422b"/>
    <p:sldId xmlns:r="http://schemas.openxmlformats.org/officeDocument/2006/relationships" id="263" r:id="R191b60336cec4e04"/>
    <p:sldId xmlns:r="http://schemas.openxmlformats.org/officeDocument/2006/relationships" id="264" r:id="R3f9c43d69ffe432b"/>
    <p:sldId xmlns:r="http://schemas.openxmlformats.org/officeDocument/2006/relationships" id="265" r:id="R95fda14813754e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2ef67ebd964a10" /><Relationship Type="http://schemas.openxmlformats.org/officeDocument/2006/relationships/slideMaster" Target="/ppt/slideMasters/slideMaster1.xml" Id="R996f38093da541d3" /><Relationship Type="http://schemas.openxmlformats.org/officeDocument/2006/relationships/notesMaster" Target="/ppt/notesMasters/notesMaster1.xml" Id="Rb5f83fbdb7bb4134" /><Relationship Type="http://schemas.openxmlformats.org/officeDocument/2006/relationships/presProps" Target="/ppt/presProps.xml" Id="R3a0de6379f364d74" /><Relationship Type="http://schemas.openxmlformats.org/officeDocument/2006/relationships/tableStyles" Target="/ppt/tableStyles.xml" Id="R46f0adabde224263" /><Relationship Type="http://schemas.openxmlformats.org/officeDocument/2006/relationships/slide" Target="/ppt/slides/slide1.xml" Id="R8191c1bdc0364a38" /><Relationship Type="http://schemas.openxmlformats.org/officeDocument/2006/relationships/slide" Target="/ppt/slides/slide2.xml" Id="R758c8c8327e0488e" /><Relationship Type="http://schemas.openxmlformats.org/officeDocument/2006/relationships/slide" Target="/ppt/slides/slide3.xml" Id="Rc2f69bf49da94ea9" /><Relationship Type="http://schemas.openxmlformats.org/officeDocument/2006/relationships/slide" Target="/ppt/slides/slide4.xml" Id="R3990ed9ad8674279" /><Relationship Type="http://schemas.openxmlformats.org/officeDocument/2006/relationships/slide" Target="/ppt/slides/slide5.xml" Id="R56974564bdd34664" /><Relationship Type="http://schemas.openxmlformats.org/officeDocument/2006/relationships/slide" Target="/ppt/slides/slide6.xml" Id="Rb145b6bdfc224fad" /><Relationship Type="http://schemas.openxmlformats.org/officeDocument/2006/relationships/slide" Target="/ppt/slides/slide7.xml" Id="R27932980f53f422b" /><Relationship Type="http://schemas.openxmlformats.org/officeDocument/2006/relationships/slide" Target="/ppt/slides/slide8.xml" Id="R191b60336cec4e04" /><Relationship Type="http://schemas.openxmlformats.org/officeDocument/2006/relationships/slide" Target="/ppt/slides/slide9.xml" Id="R3f9c43d69ffe432b" /><Relationship Type="http://schemas.openxmlformats.org/officeDocument/2006/relationships/slide" Target="/ppt/slides/slide10.xml" Id="R95fda14813754e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122c609c5448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90a04bb9934d2d" /><Relationship Type="http://schemas.openxmlformats.org/officeDocument/2006/relationships/notesMaster" Target="/ppt/notesMasters/notesMaster1.xml" Id="Rbac482409b3a47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97172f810844cc" /><Relationship Type="http://schemas.openxmlformats.org/officeDocument/2006/relationships/notesMaster" Target="/ppt/notesMasters/notesMaster1.xml" Id="R51733a3e408a4a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18235c79d34732" /><Relationship Type="http://schemas.openxmlformats.org/officeDocument/2006/relationships/notesMaster" Target="/ppt/notesMasters/notesMaster1.xml" Id="R52de7e884a584e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1e72901ce94351" /><Relationship Type="http://schemas.openxmlformats.org/officeDocument/2006/relationships/notesMaster" Target="/ppt/notesMasters/notesMaster1.xml" Id="R1c2ebf9f026b47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8e7a03b8994c74" /><Relationship Type="http://schemas.openxmlformats.org/officeDocument/2006/relationships/notesMaster" Target="/ppt/notesMasters/notesMaster1.xml" Id="R989786427ae045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90f0fbbef74e83" /><Relationship Type="http://schemas.openxmlformats.org/officeDocument/2006/relationships/notesMaster" Target="/ppt/notesMasters/notesMaster1.xml" Id="R29f9e8a2e23b48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c4db85b2494034" /><Relationship Type="http://schemas.openxmlformats.org/officeDocument/2006/relationships/notesMaster" Target="/ppt/notesMasters/notesMaster1.xml" Id="R07b85e4e439447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a46a47a1644b9d" /><Relationship Type="http://schemas.openxmlformats.org/officeDocument/2006/relationships/notesMaster" Target="/ppt/notesMasters/notesMaster1.xml" Id="R2a6a63035e974a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d1b05d8adc4587" /><Relationship Type="http://schemas.openxmlformats.org/officeDocument/2006/relationships/notesMaster" Target="/ppt/notesMasters/notesMaster1.xml" Id="R7aff3ad5a48049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958db018f34066" /><Relationship Type="http://schemas.openxmlformats.org/officeDocument/2006/relationships/notesMaster" Target="/ppt/notesMasters/notesMaster1.xml" Id="R83203f4fee5248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20초</a:t>
            </a:r>
          </a:p>
          <a:p xmlns:a="http://schemas.openxmlformats.org/drawingml/2006/main">
            <a:r>
              <a:t>이번에는 게임 캐릭터 예제에 실제 체력이 줄어드는 턴제 전투를 추가했습니다. 중심 학습 내용은 상속과 오버라이딩이고, 다형성을 추가로 응용했습니다. 모든 코드를 설명하기보다는 공격 메서드의 반환값이 전투에 어떻게 연결되는지 핵심 흐름을 소개하겠습니다.</a:t>
            </a:r>
          </a:p>
          <a:p xmlns:a="http://schemas.openxmlformats.org/drawingml/2006/main">
            <a:r>
              <a:t/>
            </a:r>
          </a:p>
          <a:p xmlns:a="http://schemas.openxmlformats.org/drawingml/2006/main">
            <a:r>
              <a:t>코드 근거: CharacterBattle 전체</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a:t>
            </a:r>
          </a:p>
          <a:p xmlns:a="http://schemas.openxmlformats.org/drawingml/2006/main">
            <a:r>
              <a:t>오늘 발표는 네 부분으로 진행하겠습니다. 먼저 어떤 프로그램인지와 부모·자식 클래스의 관계를 간단히 보겠습니다. 다음으로 가장 중요한 코드 세 부분을 설명하겠습니다. 공격 메서드가 값을 반환하는 부분, 서로 다른 직업을 같은 변수로 다루는 부분, 받은 피해량을 체력에 적용하는 부분입니다. 이후 프로그램을 짧게 실행해 코드가 실제로 어떻게 동작하는지 확인하겠습니다. 마지막으로 헷갈리는 부분과 코드에서 개선하고 싶은 점을 정리하겠습니다. 전체 발표는 시연을 포함해 약 9분입니다.</a:t>
            </a:r>
          </a:p>
          <a:p xmlns:a="http://schemas.openxmlformats.org/drawingml/2006/main">
            <a:r>
              <a:t/>
            </a:r>
          </a:p>
          <a:p xmlns:a="http://schemas.openxmlformats.org/drawingml/2006/main">
            <a:r>
              <a:t>코드 근거: 발표 구성</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a:t>
            </a:r>
          </a:p>
          <a:p xmlns:a="http://schemas.openxmlformats.org/drawingml/2006/main">
            <a:r>
              <a:t>전사와 마법사에 궁수와 도적을 추가해 직업을 네 개로 늘렸습니다. 전사는 높은 체력, 마법사는 강한 특수 공격, 궁수는 범위 안에서 무작위 피해, 도적은 확률에 따른 치명타로 차이를 두었습니다. 직업을 고르면 능력치를 먼저 확인하고 확정하거나 다른 직업을 다시 고릅니다. 확정한 뒤 일반 공격, 특수 공격, 회복 중 하나를 선택합니다. 몬스터가 살아 있으면 반격하고 한쪽 체력이 0이 되면 끝납니다. 특수 공격과 물약은 각각 두 번 사용할 수 있습니다.</a:t>
            </a:r>
          </a:p>
          <a:p xmlns:a="http://schemas.openxmlformats.org/drawingml/2006/main">
            <a:r>
              <a:t/>
            </a:r>
          </a:p>
          <a:p xmlns:a="http://schemas.openxmlformats.org/drawingml/2006/main">
            <a:r>
              <a:t>코드 근거: 네 직업 클래스와 Main.java</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a:t>
            </a:r>
          </a:p>
          <a:p xmlns:a="http://schemas.openxmlformats.org/drawingml/2006/main">
            <a:r>
              <a:t>핵심 코드를 보기 전에 클래스 관계를 먼저 정리하겠습니다. GameCharacter는 부모 클래스이며 이름과 체력, 공격력처럼 모든 직업에 필요한 값을 갖습니다. takeDamage와 heal처럼 공통으로 사용하는 메서드도 여기에 있습니다. Warrior, Mage, Archer, Rogue는 이를 상속하는 자식 클래스입니다. 화면의 extends GameCharacter가 그 관계를 나타냅니다. 상속 덕분에 각 직업에서 체력 감소와 회복 코드를 모두 다시 작성할 필요가 없습니다. 다만 공격 방식은 직업마다 다르기 때문에 attack과 specialAttack을 자식 클래스에서 다시 작성했습니다. 이것이 오버라이딩입니다. 상속은 공통 기능을 물려받는 관계이고, 오버라이딩은 물려받은 메서드의 동작을 바꾸는 방법으로 구분하면 됩니다. 다음 장에서는 마법사의 특수 공격을 예로 보겠습니다.</a:t>
            </a:r>
          </a:p>
          <a:p xmlns:a="http://schemas.openxmlformats.org/drawingml/2006/main">
            <a:r>
              <a:t/>
            </a:r>
          </a:p>
          <a:p xmlns:a="http://schemas.openxmlformats.org/drawingml/2006/main">
            <a:r>
              <a:t>코드 근거: GameCharacter.java와 직업별 클래스</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70초</a:t>
            </a:r>
          </a:p>
          <a:p xmlns:a="http://schemas.openxmlformats.org/drawingml/2006/main">
            <a:r>
              <a:t>대표로 마법사의 특수 공격 코드를 보겠습니다. 부모의 specialAttack을 같은 이름으로 재정의했습니다. 기존 예제는 void 메서드에서 출력만 했지만 이번에는 int 반환형을 사용합니다. 지역 변수 damage에 기본 공격력의 두 배를 저장하고, 마지막에 return damage로 호출한 곳에 전달합니다. 출력은 화면에 보여주는 일이고 return은 다른 코드가 사용할 값을 전달하는 일이라는 차이가 있습니다. 이 계산만으로 몬스터 체력이 바뀌는 것은 아니고, 체력 변경은 Main에서 처리합니다.</a:t>
            </a:r>
          </a:p>
          <a:p xmlns:a="http://schemas.openxmlformats.org/drawingml/2006/main">
            <a:r>
              <a:t/>
            </a:r>
          </a:p>
          <a:p xmlns:a="http://schemas.openxmlformats.org/drawingml/2006/main">
            <a:r>
              <a:t>코드를 위에서 아래로 짚으며 설명합니다. 마법사의 attackPower가 22이므로 damage에는 44가 들어갑니다. 화면에 44를 출력하는 줄과 return으로 44를 보내는 줄을 각각 가리킵니다. 반환형이 int인 메서드는 호출한 코드에 정수 결과를 돌려줍니다. 이 메서드 안에는 monsterHp를 바꾸는 줄이 없다는 점도 확인합니다.</a:t>
            </a:r>
          </a:p>
          <a:p xmlns:a="http://schemas.openxmlformats.org/drawingml/2006/main">
            <a:r>
              <a:t/>
            </a:r>
          </a:p>
          <a:p xmlns:a="http://schemas.openxmlformats.org/drawingml/2006/main">
            <a:r>
              <a:t>코드 근거: src/Mage.java specialAttack</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a:t>
            </a:r>
          </a:p>
          <a:p xmlns:a="http://schemas.openxmlformats.org/drawingml/2006/main">
            <a:r>
              <a:t>다형성은 추가 학습으로 넣은 부분입니다. player는 부모 GameCharacter 타입으로 선언합니다. 직업 선택에서는 전사나 마법사 같은 실제 자식 객체를 연결합니다. 공격하는 곳에서는 직업별 조건문을 다시 쓰지 않고 player.attack을 호출합니다. 실제 객체가 궁수면 궁수의 공격, 도적이면 도적의 공격이 실행됩니다. 화면에는 두 직업만 발췌했지만 같은 방식으로 네 직업을 처리합니다. 상속으로 공통 타입을 만들고 오버라이딩으로 다른 공격을 작성한 결과를 여기서 활용합니다.</a:t>
            </a:r>
          </a:p>
          <a:p xmlns:a="http://schemas.openxmlformats.org/drawingml/2006/main">
            <a:r>
              <a:t/>
            </a:r>
          </a:p>
          <a:p xmlns:a="http://schemas.openxmlformats.org/drawingml/2006/main">
            <a:r>
              <a:t>player 변수는 하나이고 사용자가 고른 직업의 객체 하나가 연결됩니다. 전사를 골랐을 때와 마법사를 골랐을 때를 각각 손으로 짚어 보겠습니다. 두 경우 모두 마지막 호출문은 player.attack()으로 같습니다. Main은 반환된 피해량만 받아 사용합니다. 직업에 따른 공격 계산은 각 자식 클래스가 맡습니다.</a:t>
            </a:r>
          </a:p>
          <a:p xmlns:a="http://schemas.openxmlformats.org/drawingml/2006/main">
            <a:r>
              <a:t/>
            </a:r>
          </a:p>
          <a:p xmlns:a="http://schemas.openxmlformats.org/drawingml/2006/main">
            <a:r>
              <a:t>코드 근거: src/Main.java의 player 선언, 직업 선택, 일반 공격</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65초</a:t>
            </a:r>
          </a:p>
          <a:p xmlns:a="http://schemas.openxmlformats.org/drawingml/2006/main">
            <a:r>
              <a:t>앞에서 반환받은 damage를 몬스터 체력에서 뺍니다. 이 부분이 공격 계산을 실제 전투 상태와 연결합니다. 그 다음 몬스터 체력이 0 이하인지 먼저 검사합니다. 처치했다면 break로 전투 반복을 끝내므로 반격 코드에 도달하지 않습니다. 살아 있을 때만 반격 피해를 정하고 player.takeDamage를 호출합니다. 공격, 처치 확인, 반격이라는 실행 순서가 중요합니다. 예를 들어 체력 120인 몬스터에게 화염구 44 피해를 주면 남은 체력은 76이 됩니다.</a:t>
            </a:r>
          </a:p>
          <a:p xmlns:a="http://schemas.openxmlformats.org/drawingml/2006/main">
            <a:r>
              <a:t/>
            </a:r>
          </a:p>
          <a:p xmlns:a="http://schemas.openxmlformats.org/drawingml/2006/main">
            <a:r>
              <a:t>monsterHp가 30이고 피해량이 44라면 뺀 결과는 -14입니다. 조건문이 이를 0으로 바꾸고 break로 반복문을 끝냅니다. 그래서 아래 반격은 실행하지 않습니다. Math.random()은 0 이상 1 미만의 값을 만들고, 8을 곱해 정수로 바꾸면 0부터 7, 여기에 14를 더하면 14부터 21이 됩니다. 이 숫자는 몬스터의 반격 피해량입니다.</a:t>
            </a:r>
          </a:p>
          <a:p xmlns:a="http://schemas.openxmlformats.org/drawingml/2006/main">
            <a:r>
              <a:t/>
            </a:r>
          </a:p>
          <a:p xmlns:a="http://schemas.openxmlformats.org/drawingml/2006/main">
            <a:r>
              <a:t>코드 근거: src/Main.java의 피해 적용, 처치 확인, 반격</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75초</a:t>
            </a:r>
          </a:p>
          <a:p xmlns:a="http://schemas.openxmlformats.org/drawingml/2006/main">
            <a:r>
              <a:t>시연에서는 전사를 골라 특수 공격을 두 번 사용해 보겠습니다. 한 번에 36씩 피해를 주므로 몬스터 체력은 120에서 84, 다시 48이 됩니다. 세 번째 특수 공격은 횟수가 없다는 안내만 나오고 반격하지 않습니다. 회복도 물약이 있을 때만 가능하고 최대 체력을 넘지 않습니다. 마지막 공격으로 몬스터를 처치하면 승리 안내가 나옵니다. 반격 수치는 난수여서 실행마다 남은 체력은 달라질 수 있습니다.</a:t>
            </a:r>
          </a:p>
          <a:p xmlns:a="http://schemas.openxmlformats.org/drawingml/2006/main">
            <a:r>
              <a:t/>
            </a:r>
          </a:p>
          <a:p xmlns:a="http://schemas.openxmlformats.org/drawingml/2006/main">
            <a:r>
              <a:t>[시연 약 50초 포함] IntelliJ에서 Main을 실행합니다. 직업 1(전사)을 고르고 능력치 화면에서 1(확정)을 입력합니다. 행동 2, 2를 입력하며 몬스터 체력 84와 48을 확인합니다. 행동 2를 한 번 더 입력해 횟수 부족일 때 반격하지 않는지 봅니다. 이어 1(일반 공격), 3(회복), 1, 1을 입력하면 승리합니다. 회복 뒤에도 살아 있는 몬스터가 반격한다는 점을 짚습니다. 시연이 늦어지면 횟수 부족 확인을 생략하고 같은 순서로 진행합니다.</a:t>
            </a:r>
          </a:p>
          <a:p xmlns:a="http://schemas.openxmlformats.org/drawingml/2006/main">
            <a:r>
              <a:t/>
            </a:r>
          </a:p>
          <a:p xmlns:a="http://schemas.openxmlformats.org/drawingml/2006/main">
            <a:r>
              <a:t>코드 근거: Main.java의 횟수 검사, Warrior.specialAttack(), GameCharacter.heal(). 표시된 수치는 확정 피해 계산</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a:t>
            </a:r>
          </a:p>
          <a:p xmlns:a="http://schemas.openxmlformats.org/drawingml/2006/main">
            <a:r>
              <a:t>어려운 부분은 메서드 호출과 반환이 연결되는 흐름입니다. 자식 클래스 안의 damage와 Main의 damage는 이름은 같아도 서로 다른 지역 변수입니다. return으로 값을 전달해야 Main이 받아서 사용할 수 있습니다. 또 전투에서는 조건문의 순서를 놓치면 처치된 몬스터가 반격하는 문제가 생길 수 있습니다. 그래서 복습할 때는 공격 하나를 정하고 자식의 계산, 반환, Main의 체력 감소, 처치 확인 순서로 따라가려고 합니다.</a:t>
            </a:r>
          </a:p>
          <a:p xmlns:a="http://schemas.openxmlformats.org/drawingml/2006/main">
            <a:r>
              <a:t/>
            </a:r>
          </a:p>
          <a:p xmlns:a="http://schemas.openxmlformats.org/drawingml/2006/main">
            <a:r>
              <a:t>복습할 때는 변수 이름을 외우는 것보다 값이 어디에서 계산되고 어디에서 사용되는지 표시해 보려고 합니다. 예를 들어 메서드 내부 damage가 44이고 return으로 보내면 Main의 damage가 그 값을 받는 과정을 종이에 적어 볼 수 있습니다.</a:t>
            </a:r>
          </a:p>
          <a:p xmlns:a="http://schemas.openxmlformats.org/drawingml/2006/main">
            <a:r>
              <a:t/>
            </a:r>
          </a:p>
          <a:p xmlns:a="http://schemas.openxmlformats.org/drawingml/2006/main">
            <a:r>
              <a:t>코드 근거: 각 공격 메서드의 지역 변수와 Main.java의 전투 흐름</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a:t>
            </a:r>
          </a:p>
          <a:p xmlns:a="http://schemas.openxmlformats.org/drawingml/2006/main">
            <a:r>
              <a:t>기능을 추가하면서 Main에 입력 처리와 전투 처리가 함께 모여 길어졌습니다. 다음에는 한 턴 처리나 직업 선택을 메서드로 나누면 읽기 쉬울 것 같습니다. 또 능력치 확인 화면에는 피해량을 설명 문구로 적었고, 실제 공격은 자식 클래스에서 따로 계산합니다. 예를 들어 전사의 공격 보너스를 바꾸면 안내 문구도 같이 고쳐야 해서 빠뜨릴 수 있습니다. 직업별 설명 메서드로 옮기고 같은 수치를 함께 사용하면 좋을 것 같습니다. 이번 발표에서는 모든 문법보다 같은 공격 호출과 반환값이 실제 전투를 움직이는 흐름에 집중했습니다.</a:t>
            </a:r>
          </a:p>
          <a:p xmlns:a="http://schemas.openxmlformats.org/drawingml/2006/main">
            <a:r>
              <a:t/>
            </a:r>
          </a:p>
          <a:p xmlns:a="http://schemas.openxmlformats.org/drawingml/2006/main">
            <a:r>
              <a:t>먼저 현재 동작을 이해한 뒤 한 부분씩 나누고, 수정 전후의 실행 결과를 비교하는 순서로 개선하려고 합니다.</a:t>
            </a:r>
          </a:p>
          <a:p xmlns:a="http://schemas.openxmlformats.org/drawingml/2006/main">
            <a:r>
              <a:t/>
            </a:r>
          </a:p>
          <a:p xmlns:a="http://schemas.openxmlformats.org/drawingml/2006/main">
            <a:r>
              <a:t>코드 근거: Main.java의 선택·확인·전투 코드 및 능력치 설명, 직업별 공격 계산식. 개선안은 미적용</a:t>
            </a:r>
          </a:p>
          <a:p xmlns:a="http://schemas.openxmlformats.org/drawingml/2006/main">
            <a:r>
              <a:t>수업 근거: https://github.com/yoosw0522/java1/tree/master/src/ai0604/inheritance</a:t>
            </a:r>
          </a:p>
          <a:p xmlns:a="http://schemas.openxmlformats.org/drawingml/2006/main">
            <a:r>
              <a:t>다형성은 수업 이수 여부가 확인되지 않아 추가 학습으로 구분함.</a:t>
            </a:r>
          </a:p>
          <a:p xmlns:a="http://schemas.openxmlformats.org/drawingml/2006/main">
            <a:r>
              <a:t>디자인 참고: https://canva.link/vo80ilzsx7op7q6 의 초록·주황 픽셀 게임 디자인. 배경은 내장 이미지 생성 도구로 만든 장식 이미지이며 실제 제품 사진이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00d0de3f7548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d253fee94f41cc" /><Relationship Type="http://schemas.openxmlformats.org/officeDocument/2006/relationships/slideLayout" Target="/ppt/slideLayouts/slideLayout1.xml" Id="Reab6ea290bf54d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6ea290bf54d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e7b0896ee04dee" /><Relationship Type="http://schemas.openxmlformats.org/officeDocument/2006/relationships/image" Target="/ppt/media/image.png" Id="R7a71d44f7274461e" /><Relationship Type="http://schemas.openxmlformats.org/officeDocument/2006/relationships/notesSlide" Target="/ppt/notesSlides/notesSlide1.xml" Id="R2fde7b621eaa4a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a563388962421c" /><Relationship Type="http://schemas.openxmlformats.org/officeDocument/2006/relationships/image" Target="/ppt/media/image2.png" Id="Red2e20e18dcd4851" /><Relationship Type="http://schemas.openxmlformats.org/officeDocument/2006/relationships/notesSlide" Target="/ppt/notesSlides/notesSlide2.xml" Id="R6e17b0e4e0c84e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0a8aaca8954963" /><Relationship Type="http://schemas.openxmlformats.org/officeDocument/2006/relationships/image" Target="/ppt/media/image3.png" Id="R76dfbf9b6f0d4f66" /><Relationship Type="http://schemas.openxmlformats.org/officeDocument/2006/relationships/notesSlide" Target="/ppt/notesSlides/notesSlide3.xml" Id="Rcbeafc1219944b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5e783831d1402b" /><Relationship Type="http://schemas.openxmlformats.org/officeDocument/2006/relationships/image" Target="/ppt/media/image4.png" Id="Rb7ad8d16e22a4a9d" /><Relationship Type="http://schemas.openxmlformats.org/officeDocument/2006/relationships/notesSlide" Target="/ppt/notesSlides/notesSlide4.xml" Id="R33123b6048464a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f11d1a0e9444c00" /><Relationship Type="http://schemas.openxmlformats.org/officeDocument/2006/relationships/image" Target="/ppt/media/image5.png" Id="Rd9dab1cd6e3a4b3b" /><Relationship Type="http://schemas.openxmlformats.org/officeDocument/2006/relationships/notesSlide" Target="/ppt/notesSlides/notesSlide5.xml" Id="Rd73972e8661947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5c7f82a80c4ecd" /><Relationship Type="http://schemas.openxmlformats.org/officeDocument/2006/relationships/image" Target="/ppt/media/image6.png" Id="Rbc7d46e527da4904" /><Relationship Type="http://schemas.openxmlformats.org/officeDocument/2006/relationships/notesSlide" Target="/ppt/notesSlides/notesSlide6.xml" Id="R216340695e804a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3c1e46491949c3" /><Relationship Type="http://schemas.openxmlformats.org/officeDocument/2006/relationships/image" Target="/ppt/media/image7.png" Id="R6e7bca7df1fb4a7f" /><Relationship Type="http://schemas.openxmlformats.org/officeDocument/2006/relationships/notesSlide" Target="/ppt/notesSlides/notesSlide7.xml" Id="R5435de66e8ca4e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f6e27de1904295" /><Relationship Type="http://schemas.openxmlformats.org/officeDocument/2006/relationships/image" Target="/ppt/media/image8.png" Id="Rfd45cc78bbd84f0d" /><Relationship Type="http://schemas.openxmlformats.org/officeDocument/2006/relationships/notesSlide" Target="/ppt/notesSlides/notesSlide8.xml" Id="R681469a8ab9a42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37f310086e4fdc" /><Relationship Type="http://schemas.openxmlformats.org/officeDocument/2006/relationships/image" Target="/ppt/media/image9.png" Id="R5dc4b4de2e624a2c" /><Relationship Type="http://schemas.openxmlformats.org/officeDocument/2006/relationships/notesSlide" Target="/ppt/notesSlides/notesSlide9.xml" Id="R906214fc012c4d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2e80c46a224c05" /><Relationship Type="http://schemas.openxmlformats.org/officeDocument/2006/relationships/image" Target="/ppt/media/image10.png" Id="Rf3ceaca0ab1341df" /><Relationship Type="http://schemas.openxmlformats.org/officeDocument/2006/relationships/notesSlide" Target="/ppt/notesSlides/notesSlide10.xml" Id="Rc917c6cce2d5440c" /></Relationships>
</file>

<file path=ppt/slides/slide1.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a71d44f727446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31D50C-86D9-4CD3-918A-BFDC49551077}"/>
              </a:ext>
            </a:extLst>
          </p:cNvPr>
          <p:cNvSpPr>
            <a:spLocks xmlns:a="http://schemas.openxmlformats.org/drawingml/2006/main" noGrp="1"/>
          </p:cNvSpPr>
          <p:nvPr/>
        </p:nvSpPr>
        <p:spPr>
          <a:xfrm xmlns:a="http://schemas.openxmlformats.org/drawingml/2006/main">
            <a:off x="695325" y="9525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66536"/>
                </a:solidFill>
                <a:latin typeface="Malgun Gothic"/>
                <a:ea typeface="Malgun Gothic"/>
                <a:cs typeface="Malgun Gothic"/>
              </a:defRPr>
            </a:pPr>
            <a:r>
              <a:rPr sz="2100" b="0">
                <a:solidFill>
                  <a:srgbClr val="166536"/>
                </a:solidFill>
                <a:latin typeface="Malgun Gothic"/>
                <a:ea typeface="Malgun Gothic"/>
                <a:cs typeface="Malgun Gothic"/>
              </a:rPr>
              <a:t>동아리 Java 학습 발표</a:t>
            </a:r>
          </a:p>
        </p:txBody>
      </p:sp>
      <p:sp>
        <p:nvSpPr>
          <p:cNvPr id="3" name="">
            <a:extLst xmlns:a="http://schemas.openxmlformats.org/drawingml/2006/main">
              <a:ext uri="{FF2B5EF4-FFF2-40B4-BE49-F238E27FC236}">
                <a16:creationId xmlns:a16="http://schemas.microsoft.com/office/drawing/2014/main" id="{FB1FFEBA-0729-4CA7-8542-C14D70A765CD}"/>
              </a:ext>
            </a:extLst>
          </p:cNvPr>
          <p:cNvSpPr>
            <a:spLocks xmlns:a="http://schemas.openxmlformats.org/drawingml/2006/main" noGrp="1"/>
          </p:cNvSpPr>
          <p:nvPr/>
        </p:nvSpPr>
        <p:spPr>
          <a:xfrm xmlns:a="http://schemas.openxmlformats.org/drawingml/2006/main">
            <a:off x="638175" y="2095500"/>
            <a:ext cx="1085850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AB400F"/>
                </a:solidFill>
                <a:latin typeface="Malgun Gothic"/>
                <a:ea typeface="Malgun Gothic"/>
                <a:cs typeface="Malgun Gothic"/>
              </a:defRPr>
            </a:pPr>
            <a:r>
              <a:rPr sz="4350" b="1">
                <a:solidFill>
                  <a:srgbClr val="AB400F"/>
                </a:solidFill>
                <a:latin typeface="Malgun Gothic"/>
                <a:ea typeface="Malgun Gothic"/>
                <a:cs typeface="Malgun Gothic"/>
              </a:rPr>
              <a:t>상속과 다형성을 활용한</a:t>
            </a:r>
          </a:p>
          <a:p xmlns:a="http://schemas.openxmlformats.org/drawingml/2006/main">
            <a:pPr>
              <a:defRPr sz="4350" b="1">
                <a:solidFill>
                  <a:srgbClr val="AB400F"/>
                </a:solidFill>
                <a:latin typeface="Malgun Gothic"/>
                <a:ea typeface="Malgun Gothic"/>
                <a:cs typeface="Malgun Gothic"/>
              </a:defRPr>
            </a:pPr>
            <a:r>
              <a:rPr sz="4350" b="1">
                <a:solidFill>
                  <a:srgbClr val="AB400F"/>
                </a:solidFill>
                <a:latin typeface="Malgun Gothic"/>
                <a:ea typeface="Malgun Gothic"/>
                <a:cs typeface="Malgun Gothic"/>
              </a:rPr>
              <a:t>간단한 턴제 전투</a:t>
            </a:r>
          </a:p>
        </p:txBody>
      </p:sp>
      <p:sp>
        <p:nvSpPr>
          <p:cNvPr id="4" name="">
            <a:extLst xmlns:a="http://schemas.openxmlformats.org/drawingml/2006/main">
              <a:ext uri="{FF2B5EF4-FFF2-40B4-BE49-F238E27FC236}">
                <a16:creationId xmlns:a16="http://schemas.microsoft.com/office/drawing/2014/main" id="{B37B38AB-674C-4F95-83FE-FDBCD89C644C}"/>
              </a:ext>
            </a:extLst>
          </p:cNvPr>
          <p:cNvSpPr>
            <a:spLocks xmlns:a="http://schemas.openxmlformats.org/drawingml/2006/main" noGrp="1"/>
          </p:cNvSpPr>
          <p:nvPr/>
        </p:nvSpPr>
        <p:spPr>
          <a:xfrm xmlns:a="http://schemas.openxmlformats.org/drawingml/2006/main">
            <a:off x="695325" y="44100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D60"/>
                </a:solidFill>
                <a:latin typeface="Malgun Gothic"/>
                <a:ea typeface="Malgun Gothic"/>
                <a:cs typeface="Malgun Gothic"/>
              </a:defRPr>
            </a:pPr>
            <a:r>
              <a:rPr sz="2100" b="0">
                <a:solidFill>
                  <a:srgbClr val="526D60"/>
                </a:solidFill>
                <a:latin typeface="Malgun Gothic"/>
                <a:ea typeface="Malgun Gothic"/>
                <a:cs typeface="Malgun Gothic"/>
              </a:rPr>
              <a:t>수업 복습: 상속·오버라이딩   /   추가 학습: 다형성</a:t>
            </a:r>
          </a:p>
        </p:txBody>
      </p:sp>
      <p:sp>
        <p:nvSpPr>
          <p:cNvPr id="5" name="">
            <a:extLst xmlns:a="http://schemas.openxmlformats.org/drawingml/2006/main">
              <a:ext uri="{FF2B5EF4-FFF2-40B4-BE49-F238E27FC236}">
                <a16:creationId xmlns:a16="http://schemas.microsoft.com/office/drawing/2014/main" id="{4A994A13-CDA3-4283-81C3-DEC38ADA60CF}"/>
              </a:ext>
            </a:extLst>
          </p:cNvPr>
          <p:cNvSpPr>
            <a:spLocks xmlns:a="http://schemas.openxmlformats.org/drawingml/2006/main" noGrp="1"/>
          </p:cNvSpPr>
          <p:nvPr/>
        </p:nvSpPr>
        <p:spPr>
          <a:xfrm xmlns:a="http://schemas.openxmlformats.org/drawingml/2006/main">
            <a:off x="695325" y="533400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66536"/>
                </a:solidFill>
                <a:latin typeface="Consolas"/>
                <a:ea typeface="Consolas"/>
                <a:cs typeface="Consolas"/>
              </a:defRPr>
            </a:pPr>
            <a:r>
              <a:rPr sz="2775" b="0">
                <a:solidFill>
                  <a:srgbClr val="166536"/>
                </a:solidFill>
                <a:latin typeface="Consolas"/>
                <a:ea typeface="Consolas"/>
                <a:cs typeface="Consolas"/>
              </a:rPr>
              <a:t>int damage = player.attack();</a:t>
            </a:r>
          </a:p>
        </p:txBody>
      </p:sp>
    </p:spTree>
    <p:extLst>
      <p:ext uri="{BB962C8B-B14F-4D97-AF65-F5344CB8AC3E}">
        <p14:creationId xmlns:p14="http://schemas.microsoft.com/office/powerpoint/2010/main" val="103751750"/>
      </p:ext>
    </p:extLst>
  </p:cSld>
</p:sld>
</file>

<file path=ppt/slides/slide2.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d2e20e18dcd48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82AA83-E1D9-49EE-95D6-05AE415F42FD}"/>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오늘 발표할 내용</a:t>
            </a:r>
          </a:p>
        </p:txBody>
      </p:sp>
      <p:sp>
        <p:nvSpPr>
          <p:cNvPr id="3" name="">
            <a:extLst xmlns:a="http://schemas.openxmlformats.org/drawingml/2006/main">
              <a:ext uri="{FF2B5EF4-FFF2-40B4-BE49-F238E27FC236}">
                <a16:creationId xmlns:a16="http://schemas.microsoft.com/office/drawing/2014/main" id="{CB17BDEC-7DF7-4CEA-96D1-B1B37FF3A410}"/>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02</a:t>
            </a:r>
          </a:p>
        </p:txBody>
      </p:sp>
      <p:sp>
        <p:nvSpPr>
          <p:cNvPr id="4" name="">
            <a:extLst xmlns:a="http://schemas.openxmlformats.org/drawingml/2006/main">
              <a:ext uri="{FF2B5EF4-FFF2-40B4-BE49-F238E27FC236}">
                <a16:creationId xmlns:a16="http://schemas.microsoft.com/office/drawing/2014/main" id="{D45E682F-5B49-4592-B32B-A7BE4E21C0DC}"/>
              </a:ext>
            </a:extLst>
          </p:cNvPr>
          <p:cNvSpPr>
            <a:spLocks xmlns:a="http://schemas.openxmlformats.org/drawingml/2006/main" noGrp="1"/>
          </p:cNvSpPr>
          <p:nvPr/>
        </p:nvSpPr>
        <p:spPr>
          <a:xfrm xmlns:a="http://schemas.openxmlformats.org/drawingml/2006/main">
            <a:off x="733425" y="1857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01  프로그램과 상속 구조</a:t>
            </a:r>
          </a:p>
        </p:txBody>
      </p:sp>
      <p:sp>
        <p:nvSpPr>
          <p:cNvPr id="5" name="">
            <a:extLst xmlns:a="http://schemas.openxmlformats.org/drawingml/2006/main">
              <a:ext uri="{FF2B5EF4-FFF2-40B4-BE49-F238E27FC236}">
                <a16:creationId xmlns:a16="http://schemas.microsoft.com/office/drawing/2014/main" id="{9B02759F-A2A6-4216-B082-56D4FFD5FF25}"/>
              </a:ext>
            </a:extLst>
          </p:cNvPr>
          <p:cNvSpPr>
            <a:spLocks xmlns:a="http://schemas.openxmlformats.org/drawingml/2006/main" noGrp="1"/>
          </p:cNvSpPr>
          <p:nvPr/>
        </p:nvSpPr>
        <p:spPr>
          <a:xfrm xmlns:a="http://schemas.openxmlformats.org/drawingml/2006/main">
            <a:off x="733425" y="2724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02  핵심 코드: 반환값, 다형성, 전투 순서</a:t>
            </a:r>
          </a:p>
        </p:txBody>
      </p:sp>
      <p:sp>
        <p:nvSpPr>
          <p:cNvPr id="6" name="">
            <a:extLst xmlns:a="http://schemas.openxmlformats.org/drawingml/2006/main">
              <a:ext uri="{FF2B5EF4-FFF2-40B4-BE49-F238E27FC236}">
                <a16:creationId xmlns:a16="http://schemas.microsoft.com/office/drawing/2014/main" id="{17CDF945-0EA0-4D6C-BB1D-A873E1C438A8}"/>
              </a:ext>
            </a:extLst>
          </p:cNvPr>
          <p:cNvSpPr>
            <a:spLocks xmlns:a="http://schemas.openxmlformats.org/drawingml/2006/main" noGrp="1"/>
          </p:cNvSpPr>
          <p:nvPr/>
        </p:nvSpPr>
        <p:spPr>
          <a:xfrm xmlns:a="http://schemas.openxmlformats.org/drawingml/2006/main">
            <a:off x="733425" y="35909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03  실행 시연으로 동작 확인</a:t>
            </a:r>
          </a:p>
        </p:txBody>
      </p:sp>
      <p:sp>
        <p:nvSpPr>
          <p:cNvPr id="7" name="">
            <a:extLst xmlns:a="http://schemas.openxmlformats.org/drawingml/2006/main">
              <a:ext uri="{FF2B5EF4-FFF2-40B4-BE49-F238E27FC236}">
                <a16:creationId xmlns:a16="http://schemas.microsoft.com/office/drawing/2014/main" id="{61425EBD-6354-4498-9ED1-BB807CC68ADF}"/>
              </a:ext>
            </a:extLst>
          </p:cNvPr>
          <p:cNvSpPr>
            <a:spLocks xmlns:a="http://schemas.openxmlformats.org/drawingml/2006/main" noGrp="1"/>
          </p:cNvSpPr>
          <p:nvPr/>
        </p:nvSpPr>
        <p:spPr>
          <a:xfrm xmlns:a="http://schemas.openxmlformats.org/drawingml/2006/main">
            <a:off x="733425" y="4457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04  어려운 부분과 코드 개선점</a:t>
            </a:r>
          </a:p>
        </p:txBody>
      </p:sp>
      <p:sp>
        <p:nvSpPr>
          <p:cNvPr id="8" name="">
            <a:extLst xmlns:a="http://schemas.openxmlformats.org/drawingml/2006/main">
              <a:ext uri="{FF2B5EF4-FFF2-40B4-BE49-F238E27FC236}">
                <a16:creationId xmlns:a16="http://schemas.microsoft.com/office/drawing/2014/main" id="{5D1A9774-0528-45F2-A35C-A882AC4409DD}"/>
              </a:ext>
            </a:extLst>
          </p:cNvPr>
          <p:cNvSpPr>
            <a:spLocks xmlns:a="http://schemas.openxmlformats.org/drawingml/2006/main" noGrp="1"/>
          </p:cNvSpPr>
          <p:nvPr/>
        </p:nvSpPr>
        <p:spPr>
          <a:xfrm xmlns:a="http://schemas.openxmlformats.org/drawingml/2006/main">
            <a:off x="685800" y="5467350"/>
            <a:ext cx="1002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D60"/>
                </a:solidFill>
                <a:latin typeface="Malgun Gothic"/>
                <a:ea typeface="Malgun Gothic"/>
                <a:cs typeface="Malgun Gothic"/>
              </a:defRPr>
            </a:pPr>
            <a:r>
              <a:rPr sz="1650" b="0">
                <a:solidFill>
                  <a:srgbClr val="526D60"/>
                </a:solidFill>
                <a:latin typeface="Malgun Gothic"/>
                <a:ea typeface="Malgun Gothic"/>
                <a:cs typeface="Malgun Gothic"/>
              </a:rPr>
              <a:t>약 9분 · 핵심 코드 설명과 짧은 실행 시연 중심</a:t>
            </a:r>
          </a:p>
        </p:txBody>
      </p:sp>
    </p:spTree>
    <p:extLst>
      <p:ext uri="{BB962C8B-B14F-4D97-AF65-F5344CB8AC3E}">
        <p14:creationId xmlns:p14="http://schemas.microsoft.com/office/powerpoint/2010/main" val="2121996533"/>
      </p:ext>
    </p:extLst>
  </p:cSld>
</p:sld>
</file>

<file path=ppt/slides/slide3.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6dfbf9b6f0d4f6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BF1045-7BB1-48D8-B00D-0A43F179D815}"/>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확장한 프로그램의 흐름</a:t>
            </a:r>
          </a:p>
        </p:txBody>
      </p:sp>
      <p:sp>
        <p:nvSpPr>
          <p:cNvPr id="3" name="">
            <a:extLst xmlns:a="http://schemas.openxmlformats.org/drawingml/2006/main">
              <a:ext uri="{FF2B5EF4-FFF2-40B4-BE49-F238E27FC236}">
                <a16:creationId xmlns:a16="http://schemas.microsoft.com/office/drawing/2014/main" id="{58876037-53C0-4D52-A4F5-3C073E80567C}"/>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03</a:t>
            </a:r>
          </a:p>
        </p:txBody>
      </p:sp>
      <p:sp>
        <p:nvSpPr>
          <p:cNvPr id="4" name="">
            <a:extLst xmlns:a="http://schemas.openxmlformats.org/drawingml/2006/main">
              <a:ext uri="{FF2B5EF4-FFF2-40B4-BE49-F238E27FC236}">
                <a16:creationId xmlns:a16="http://schemas.microsoft.com/office/drawing/2014/main" id="{7FEFBB74-385A-44AE-AF4C-6D38F7283BBD}"/>
              </a:ext>
            </a:extLst>
          </p:cNvPr>
          <p:cNvSpPr>
            <a:spLocks xmlns:a="http://schemas.openxmlformats.org/drawingml/2006/main" noGrp="1"/>
          </p:cNvSpPr>
          <p:nvPr/>
        </p:nvSpPr>
        <p:spPr>
          <a:xfrm xmlns:a="http://schemas.openxmlformats.org/drawingml/2006/main">
            <a:off x="733425" y="1724025"/>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6536"/>
                </a:solidFill>
                <a:latin typeface="Malgun Gothic"/>
                <a:ea typeface="Malgun Gothic"/>
                <a:cs typeface="Malgun Gothic"/>
              </a:defRPr>
            </a:pPr>
            <a:r>
              <a:rPr sz="2325" b="1">
                <a:solidFill>
                  <a:srgbClr val="166536"/>
                </a:solidFill>
                <a:latin typeface="Malgun Gothic"/>
                <a:ea typeface="Malgun Gothic"/>
                <a:cs typeface="Malgun Gothic"/>
              </a:rPr>
              <a:t>직업 4개</a:t>
            </a:r>
          </a:p>
        </p:txBody>
      </p:sp>
      <p:sp>
        <p:nvSpPr>
          <p:cNvPr id="5" name="">
            <a:extLst xmlns:a="http://schemas.openxmlformats.org/drawingml/2006/main">
              <a:ext uri="{FF2B5EF4-FFF2-40B4-BE49-F238E27FC236}">
                <a16:creationId xmlns:a16="http://schemas.microsoft.com/office/drawing/2014/main" id="{A23435C2-87DB-4B87-AF8D-795A6A7207D0}"/>
              </a:ext>
            </a:extLst>
          </p:cNvPr>
          <p:cNvSpPr>
            <a:spLocks xmlns:a="http://schemas.openxmlformats.org/drawingml/2006/main" noGrp="1"/>
          </p:cNvSpPr>
          <p:nvPr/>
        </p:nvSpPr>
        <p:spPr>
          <a:xfrm xmlns:a="http://schemas.openxmlformats.org/drawingml/2006/main">
            <a:off x="733425" y="2524125"/>
            <a:ext cx="64770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전사     높은 체력</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마법사  강한 특수 공격</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궁수     무작위 추가 피해</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도적     확률에 따른 치명타</a:t>
            </a:r>
          </a:p>
        </p:txBody>
      </p:sp>
      <p:sp>
        <p:nvSpPr>
          <p:cNvPr id="6" name="">
            <a:extLst xmlns:a="http://schemas.openxmlformats.org/drawingml/2006/main">
              <a:ext uri="{FF2B5EF4-FFF2-40B4-BE49-F238E27FC236}">
                <a16:creationId xmlns:a16="http://schemas.microsoft.com/office/drawing/2014/main" id="{6084FDA3-0A55-4856-802C-0FB67504C9DB}"/>
              </a:ext>
            </a:extLst>
          </p:cNvPr>
          <p:cNvSpPr>
            <a:spLocks xmlns:a="http://schemas.openxmlformats.org/drawingml/2006/main" noGrp="1"/>
          </p:cNvSpPr>
          <p:nvPr/>
        </p:nvSpPr>
        <p:spPr>
          <a:xfrm xmlns:a="http://schemas.openxmlformats.org/drawingml/2006/main">
            <a:off x="7915275" y="1724025"/>
            <a:ext cx="35909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B400F"/>
                </a:solidFill>
                <a:latin typeface="Malgun Gothic"/>
                <a:ea typeface="Malgun Gothic"/>
                <a:cs typeface="Malgun Gothic"/>
              </a:defRPr>
            </a:pPr>
            <a:r>
              <a:rPr sz="2325" b="1">
                <a:solidFill>
                  <a:srgbClr val="AB400F"/>
                </a:solidFill>
                <a:latin typeface="Malgun Gothic"/>
                <a:ea typeface="Malgun Gothic"/>
                <a:cs typeface="Malgun Gothic"/>
              </a:rPr>
              <a:t>한 턴의 진행</a:t>
            </a:r>
          </a:p>
        </p:txBody>
      </p:sp>
      <p:sp>
        <p:nvSpPr>
          <p:cNvPr id="7" name="">
            <a:extLst xmlns:a="http://schemas.openxmlformats.org/drawingml/2006/main">
              <a:ext uri="{FF2B5EF4-FFF2-40B4-BE49-F238E27FC236}">
                <a16:creationId xmlns:a16="http://schemas.microsoft.com/office/drawing/2014/main" id="{7B4CE418-0045-4C33-A654-F4A76A049FB4}"/>
              </a:ext>
            </a:extLst>
          </p:cNvPr>
          <p:cNvSpPr>
            <a:spLocks xmlns:a="http://schemas.openxmlformats.org/drawingml/2006/main" noGrp="1"/>
          </p:cNvSpPr>
          <p:nvPr/>
        </p:nvSpPr>
        <p:spPr>
          <a:xfrm xmlns:a="http://schemas.openxmlformats.org/drawingml/2006/main">
            <a:off x="7915275" y="2524125"/>
            <a:ext cx="359092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372C"/>
                </a:solidFill>
                <a:latin typeface="Malgun Gothic"/>
                <a:ea typeface="Malgun Gothic"/>
                <a:cs typeface="Malgun Gothic"/>
              </a:defRPr>
            </a:pPr>
            <a:r>
              <a:rPr sz="2100" b="0">
                <a:solidFill>
                  <a:srgbClr val="20372C"/>
                </a:solidFill>
                <a:latin typeface="Malgun Gothic"/>
                <a:ea typeface="Malgun Gothic"/>
                <a:cs typeface="Malgun Gothic"/>
              </a:rPr>
              <a:t>행동 선택</a:t>
            </a:r>
          </a:p>
          <a:p xmlns:a="http://schemas.openxmlformats.org/drawingml/2006/main">
            <a:pPr>
              <a:defRPr sz="2100" b="0">
                <a:solidFill>
                  <a:srgbClr val="20372C"/>
                </a:solidFill>
                <a:latin typeface="Malgun Gothic"/>
                <a:ea typeface="Malgun Gothic"/>
                <a:cs typeface="Malgun Gothic"/>
              </a:defRPr>
            </a:pPr>
            <a:r>
              <a:rPr sz="2100" b="0">
                <a:solidFill>
                  <a:srgbClr val="20372C"/>
                </a:solidFill>
                <a:latin typeface="Malgun Gothic"/>
                <a:ea typeface="Malgun Gothic"/>
                <a:cs typeface="Malgun Gothic"/>
              </a:rPr>
              <a:t>공격 또는 회복</a:t>
            </a:r>
          </a:p>
          <a:p xmlns:a="http://schemas.openxmlformats.org/drawingml/2006/main">
            <a:pPr>
              <a:defRPr sz="2100" b="0">
                <a:solidFill>
                  <a:srgbClr val="20372C"/>
                </a:solidFill>
                <a:latin typeface="Malgun Gothic"/>
                <a:ea typeface="Malgun Gothic"/>
                <a:cs typeface="Malgun Gothic"/>
              </a:defRPr>
            </a:pPr>
            <a:r>
              <a:rPr sz="2100" b="0">
                <a:solidFill>
                  <a:srgbClr val="20372C"/>
                </a:solidFill>
                <a:latin typeface="Malgun Gothic"/>
                <a:ea typeface="Malgun Gothic"/>
                <a:cs typeface="Malgun Gothic"/>
              </a:rPr>
              <a:t>살아 있는 몬스터의 반격</a:t>
            </a:r>
          </a:p>
          <a:p xmlns:a="http://schemas.openxmlformats.org/drawingml/2006/main">
            <a:pPr>
              <a:defRPr sz="2100" b="0">
                <a:solidFill>
                  <a:srgbClr val="20372C"/>
                </a:solidFill>
                <a:latin typeface="Malgun Gothic"/>
                <a:ea typeface="Malgun Gothic"/>
                <a:cs typeface="Malgun Gothic"/>
              </a:defRPr>
            </a:pPr>
            <a:r>
              <a:rPr sz="2100" b="0">
                <a:solidFill>
                  <a:srgbClr val="20372C"/>
                </a:solidFill>
                <a:latin typeface="Malgun Gothic"/>
                <a:ea typeface="Malgun Gothic"/>
                <a:cs typeface="Malgun Gothic"/>
              </a:rPr>
              <a:t>체력 확인 후 다음 턴</a:t>
            </a:r>
          </a:p>
        </p:txBody>
      </p:sp>
      <p:sp>
        <p:nvSpPr>
          <p:cNvPr id="8" name="">
            <a:extLst xmlns:a="http://schemas.openxmlformats.org/drawingml/2006/main">
              <a:ext uri="{FF2B5EF4-FFF2-40B4-BE49-F238E27FC236}">
                <a16:creationId xmlns:a16="http://schemas.microsoft.com/office/drawing/2014/main" id="{865DDE91-B01A-473C-AE38-41964074882A}"/>
              </a:ext>
            </a:extLst>
          </p:cNvPr>
          <p:cNvSpPr>
            <a:spLocks xmlns:a="http://schemas.openxmlformats.org/drawingml/2006/main" noGrp="1"/>
          </p:cNvSpPr>
          <p:nvPr/>
        </p:nvSpPr>
        <p:spPr>
          <a:xfrm xmlns:a="http://schemas.openxmlformats.org/drawingml/2006/main">
            <a:off x="685800" y="5467350"/>
            <a:ext cx="1002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D60"/>
                </a:solidFill>
                <a:latin typeface="Malgun Gothic"/>
                <a:ea typeface="Malgun Gothic"/>
                <a:cs typeface="Malgun Gothic"/>
              </a:defRPr>
            </a:pPr>
            <a:r>
              <a:rPr sz="1650" b="0">
                <a:solidFill>
                  <a:srgbClr val="526D60"/>
                </a:solidFill>
                <a:latin typeface="Malgun Gothic"/>
                <a:ea typeface="Malgun Gothic"/>
                <a:cs typeface="Malgun Gothic"/>
              </a:rPr>
              <a:t>직업 선택 후 능력치 확인 · 확정하면 전투 시작 · 뒤로 가서 다시 선택 가능</a:t>
            </a:r>
          </a:p>
        </p:txBody>
      </p:sp>
    </p:spTree>
    <p:extLst>
      <p:ext uri="{BB962C8B-B14F-4D97-AF65-F5344CB8AC3E}">
        <p14:creationId xmlns:p14="http://schemas.microsoft.com/office/powerpoint/2010/main" val="872831896"/>
      </p:ext>
    </p:extLst>
  </p:cSld>
</p:sld>
</file>

<file path=ppt/slides/slide4.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ad8d16e22a4a9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31EA95-71D8-4695-84FE-1A58C7F2363A}"/>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상속과 오버라이딩의 역할</a:t>
            </a:r>
          </a:p>
        </p:txBody>
      </p:sp>
      <p:sp>
        <p:nvSpPr>
          <p:cNvPr id="3" name="">
            <a:extLst xmlns:a="http://schemas.openxmlformats.org/drawingml/2006/main">
              <a:ext uri="{FF2B5EF4-FFF2-40B4-BE49-F238E27FC236}">
                <a16:creationId xmlns:a16="http://schemas.microsoft.com/office/drawing/2014/main" id="{79B22276-507C-4700-8713-ECBE3B0BC84C}"/>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04</a:t>
            </a:r>
          </a:p>
        </p:txBody>
      </p:sp>
      <p:sp>
        <p:nvSpPr>
          <p:cNvPr id="4" name="">
            <a:extLst xmlns:a="http://schemas.openxmlformats.org/drawingml/2006/main">
              <a:ext uri="{FF2B5EF4-FFF2-40B4-BE49-F238E27FC236}">
                <a16:creationId xmlns:a16="http://schemas.microsoft.com/office/drawing/2014/main" id="{21242AE6-26B1-49F9-941B-F56F7D7F08D3}"/>
              </a:ext>
            </a:extLst>
          </p:cNvPr>
          <p:cNvSpPr>
            <a:spLocks xmlns:a="http://schemas.openxmlformats.org/drawingml/2006/main" noGrp="1"/>
          </p:cNvSpPr>
          <p:nvPr/>
        </p:nvSpPr>
        <p:spPr>
          <a:xfrm xmlns:a="http://schemas.openxmlformats.org/drawingml/2006/main">
            <a:off x="733425" y="17526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부모: GameCharacter</a:t>
            </a:r>
          </a:p>
        </p:txBody>
      </p:sp>
      <p:sp>
        <p:nvSpPr>
          <p:cNvPr id="5" name="">
            <a:extLst xmlns:a="http://schemas.openxmlformats.org/drawingml/2006/main">
              <a:ext uri="{FF2B5EF4-FFF2-40B4-BE49-F238E27FC236}">
                <a16:creationId xmlns:a16="http://schemas.microsoft.com/office/drawing/2014/main" id="{A00177EF-1399-48A2-BB2F-C0708F7C5320}"/>
              </a:ext>
            </a:extLst>
          </p:cNvPr>
          <p:cNvSpPr>
            <a:spLocks xmlns:a="http://schemas.openxmlformats.org/drawingml/2006/main" noGrp="1"/>
          </p:cNvSpPr>
          <p:nvPr/>
        </p:nvSpPr>
        <p:spPr>
          <a:xfrm xmlns:a="http://schemas.openxmlformats.org/drawingml/2006/main">
            <a:off x="733425" y="23907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72C"/>
                </a:solidFill>
                <a:latin typeface="Malgun Gothic"/>
                <a:ea typeface="Malgun Gothic"/>
                <a:cs typeface="Malgun Gothic"/>
              </a:defRPr>
            </a:pPr>
            <a:r>
              <a:rPr sz="2175" b="0">
                <a:solidFill>
                  <a:srgbClr val="20372C"/>
                </a:solidFill>
                <a:latin typeface="Malgun Gothic"/>
                <a:ea typeface="Malgun Gothic"/>
                <a:cs typeface="Malgun Gothic"/>
              </a:rPr>
              <a:t>공통 값: 이름, 체력, 공격력</a:t>
            </a:r>
          </a:p>
          <a:p xmlns:a="http://schemas.openxmlformats.org/drawingml/2006/main">
            <a:pPr>
              <a:defRPr sz="2175" b="0">
                <a:solidFill>
                  <a:srgbClr val="20372C"/>
                </a:solidFill>
                <a:latin typeface="Malgun Gothic"/>
                <a:ea typeface="Malgun Gothic"/>
                <a:cs typeface="Malgun Gothic"/>
              </a:defRPr>
            </a:pPr>
            <a:r>
              <a:rPr sz="2175" b="0">
                <a:solidFill>
                  <a:srgbClr val="20372C"/>
                </a:solidFill>
                <a:latin typeface="Malgun Gothic"/>
                <a:ea typeface="Malgun Gothic"/>
                <a:cs typeface="Malgun Gothic"/>
              </a:rPr>
              <a:t>공통 동작: 피해 받기, 회복하기</a:t>
            </a:r>
          </a:p>
        </p:txBody>
      </p:sp>
      <p:sp>
        <p:nvSpPr>
          <p:cNvPr id="6" name="">
            <a:extLst xmlns:a="http://schemas.openxmlformats.org/drawingml/2006/main">
              <a:ext uri="{FF2B5EF4-FFF2-40B4-BE49-F238E27FC236}">
                <a16:creationId xmlns:a16="http://schemas.microsoft.com/office/drawing/2014/main" id="{6BDE6D50-2F51-492A-9875-5EAFBD268E9E}"/>
              </a:ext>
            </a:extLst>
          </p:cNvPr>
          <p:cNvSpPr>
            <a:spLocks xmlns:a="http://schemas.openxmlformats.org/drawingml/2006/main" noGrp="1"/>
          </p:cNvSpPr>
          <p:nvPr/>
        </p:nvSpPr>
        <p:spPr>
          <a:xfrm xmlns:a="http://schemas.openxmlformats.org/drawingml/2006/main">
            <a:off x="685800" y="3629025"/>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6536"/>
                </a:solidFill>
                <a:latin typeface="Consolas"/>
                <a:ea typeface="Consolas"/>
                <a:cs typeface="Consolas"/>
              </a:defRPr>
            </a:pPr>
            <a:r>
              <a:rPr sz="2175" b="0">
                <a:solidFill>
                  <a:srgbClr val="166536"/>
                </a:solidFill>
                <a:latin typeface="Consolas"/>
                <a:ea typeface="Consolas"/>
                <a:cs typeface="Consolas"/>
              </a:rPr>
              <a:t>public class Mage extends GameCharacter</a:t>
            </a:r>
          </a:p>
        </p:txBody>
      </p:sp>
      <p:sp>
        <p:nvSpPr>
          <p:cNvPr id="7" name="">
            <a:extLst xmlns:a="http://schemas.openxmlformats.org/drawingml/2006/main">
              <a:ext uri="{FF2B5EF4-FFF2-40B4-BE49-F238E27FC236}">
                <a16:creationId xmlns:a16="http://schemas.microsoft.com/office/drawing/2014/main" id="{3E031502-F54A-404F-B67E-4329A77A74DF}"/>
              </a:ext>
            </a:extLst>
          </p:cNvPr>
          <p:cNvSpPr>
            <a:spLocks xmlns:a="http://schemas.openxmlformats.org/drawingml/2006/main" noGrp="1"/>
          </p:cNvSpPr>
          <p:nvPr/>
        </p:nvSpPr>
        <p:spPr>
          <a:xfrm xmlns:a="http://schemas.openxmlformats.org/drawingml/2006/main">
            <a:off x="733425" y="43624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66536"/>
                </a:solidFill>
                <a:latin typeface="Malgun Gothic"/>
                <a:ea typeface="Malgun Gothic"/>
                <a:cs typeface="Malgun Gothic"/>
              </a:defRPr>
            </a:pPr>
            <a:r>
              <a:rPr sz="2325" b="1">
                <a:solidFill>
                  <a:srgbClr val="166536"/>
                </a:solidFill>
                <a:latin typeface="Malgun Gothic"/>
                <a:ea typeface="Malgun Gothic"/>
                <a:cs typeface="Malgun Gothic"/>
              </a:rPr>
              <a:t>자식: Warrior, Mage, Archer, Rogue</a:t>
            </a:r>
          </a:p>
        </p:txBody>
      </p:sp>
      <p:sp>
        <p:nvSpPr>
          <p:cNvPr id="8" name="">
            <a:extLst xmlns:a="http://schemas.openxmlformats.org/drawingml/2006/main">
              <a:ext uri="{FF2B5EF4-FFF2-40B4-BE49-F238E27FC236}">
                <a16:creationId xmlns:a16="http://schemas.microsoft.com/office/drawing/2014/main" id="{4FC55599-153D-4041-9B16-07975F86D014}"/>
              </a:ext>
            </a:extLst>
          </p:cNvPr>
          <p:cNvSpPr>
            <a:spLocks xmlns:a="http://schemas.openxmlformats.org/drawingml/2006/main" noGrp="1"/>
          </p:cNvSpPr>
          <p:nvPr/>
        </p:nvSpPr>
        <p:spPr>
          <a:xfrm xmlns:a="http://schemas.openxmlformats.org/drawingml/2006/main">
            <a:off x="733425" y="5095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372C"/>
                </a:solidFill>
                <a:latin typeface="Malgun Gothic"/>
                <a:ea typeface="Malgun Gothic"/>
                <a:cs typeface="Malgun Gothic"/>
              </a:defRPr>
            </a:pPr>
            <a:r>
              <a:rPr sz="2175" b="0">
                <a:solidFill>
                  <a:srgbClr val="20372C"/>
                </a:solidFill>
                <a:latin typeface="Malgun Gothic"/>
                <a:ea typeface="Malgun Gothic"/>
                <a:cs typeface="Malgun Gothic"/>
              </a:rPr>
              <a:t>attack()과 specialAttack()을 직업에 맞게 재정의</a:t>
            </a:r>
          </a:p>
        </p:txBody>
      </p:sp>
    </p:spTree>
    <p:extLst>
      <p:ext uri="{BB962C8B-B14F-4D97-AF65-F5344CB8AC3E}">
        <p14:creationId xmlns:p14="http://schemas.microsoft.com/office/powerpoint/2010/main" val="2096202604"/>
      </p:ext>
    </p:extLst>
  </p:cSld>
</p:sld>
</file>

<file path=ppt/slides/slide5.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9dab1cd6e3a4b3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1B26B8-FB79-44D3-8502-8DDDCC514C0C}"/>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핵심 1. 공격 메서드의 반환값</a:t>
            </a:r>
          </a:p>
        </p:txBody>
      </p:sp>
      <p:sp>
        <p:nvSpPr>
          <p:cNvPr id="3" name="">
            <a:extLst xmlns:a="http://schemas.openxmlformats.org/drawingml/2006/main">
              <a:ext uri="{FF2B5EF4-FFF2-40B4-BE49-F238E27FC236}">
                <a16:creationId xmlns:a16="http://schemas.microsoft.com/office/drawing/2014/main" id="{EDC6370B-220C-4935-A7C0-42791593DBCF}"/>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05</a:t>
            </a:r>
          </a:p>
        </p:txBody>
      </p:sp>
      <p:sp>
        <p:nvSpPr>
          <p:cNvPr id="4" name="">
            <a:extLst xmlns:a="http://schemas.openxmlformats.org/drawingml/2006/main">
              <a:ext uri="{FF2B5EF4-FFF2-40B4-BE49-F238E27FC236}">
                <a16:creationId xmlns:a16="http://schemas.microsoft.com/office/drawing/2014/main" id="{2336FB02-5B70-47C2-833F-CE2BB9D6FF54}"/>
              </a:ext>
            </a:extLst>
          </p:cNvPr>
          <p:cNvSpPr>
            <a:spLocks xmlns:a="http://schemas.openxmlformats.org/drawingml/2006/main" noGrp="1"/>
          </p:cNvSpPr>
          <p:nvPr/>
        </p:nvSpPr>
        <p:spPr>
          <a:xfrm xmlns:a="http://schemas.openxmlformats.org/drawingml/2006/main">
            <a:off x="685800" y="16859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6536"/>
                </a:solidFill>
                <a:latin typeface="Consolas"/>
                <a:ea typeface="Consolas"/>
                <a:cs typeface="Consolas"/>
              </a:defRPr>
            </a:pPr>
            <a:r>
              <a:rPr sz="1875" b="0">
                <a:solidFill>
                  <a:srgbClr val="166536"/>
                </a:solidFill>
                <a:latin typeface="Consolas"/>
                <a:ea typeface="Consolas"/>
                <a:cs typeface="Consolas"/>
              </a:rPr>
              <a:t>public class Mage extends GameCharacter {</a:t>
            </a:r>
          </a:p>
        </p:txBody>
      </p:sp>
      <p:sp>
        <p:nvSpPr>
          <p:cNvPr id="5" name="">
            <a:extLst xmlns:a="http://schemas.openxmlformats.org/drawingml/2006/main">
              <a:ext uri="{FF2B5EF4-FFF2-40B4-BE49-F238E27FC236}">
                <a16:creationId xmlns:a16="http://schemas.microsoft.com/office/drawing/2014/main" id="{F563F36A-B4FC-4D27-8139-554D21F44010}"/>
              </a:ext>
            </a:extLst>
          </p:cNvPr>
          <p:cNvSpPr>
            <a:spLocks xmlns:a="http://schemas.openxmlformats.org/drawingml/2006/main" noGrp="1"/>
          </p:cNvSpPr>
          <p:nvPr/>
        </p:nvSpPr>
        <p:spPr>
          <a:xfrm xmlns:a="http://schemas.openxmlformats.org/drawingml/2006/main">
            <a:off x="685800" y="23622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@Override</a:t>
            </a:r>
          </a:p>
        </p:txBody>
      </p:sp>
      <p:sp>
        <p:nvSpPr>
          <p:cNvPr id="6" name="">
            <a:extLst xmlns:a="http://schemas.openxmlformats.org/drawingml/2006/main">
              <a:ext uri="{FF2B5EF4-FFF2-40B4-BE49-F238E27FC236}">
                <a16:creationId xmlns:a16="http://schemas.microsoft.com/office/drawing/2014/main" id="{41107403-4626-41F2-8A4A-AD2B07CF28CE}"/>
              </a:ext>
            </a:extLst>
          </p:cNvPr>
          <p:cNvSpPr>
            <a:spLocks xmlns:a="http://schemas.openxmlformats.org/drawingml/2006/main" noGrp="1"/>
          </p:cNvSpPr>
          <p:nvPr/>
        </p:nvSpPr>
        <p:spPr>
          <a:xfrm xmlns:a="http://schemas.openxmlformats.org/drawingml/2006/main">
            <a:off x="685800" y="27146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public int specialAttack() {</a:t>
            </a:r>
          </a:p>
        </p:txBody>
      </p:sp>
      <p:sp>
        <p:nvSpPr>
          <p:cNvPr id="7" name="">
            <a:extLst xmlns:a="http://schemas.openxmlformats.org/drawingml/2006/main">
              <a:ext uri="{FF2B5EF4-FFF2-40B4-BE49-F238E27FC236}">
                <a16:creationId xmlns:a16="http://schemas.microsoft.com/office/drawing/2014/main" id="{5E37108C-1430-4EBF-A394-946C98B114BE}"/>
              </a:ext>
            </a:extLst>
          </p:cNvPr>
          <p:cNvSpPr>
            <a:spLocks xmlns:a="http://schemas.openxmlformats.org/drawingml/2006/main" noGrp="1"/>
          </p:cNvSpPr>
          <p:nvPr/>
        </p:nvSpPr>
        <p:spPr>
          <a:xfrm xmlns:a="http://schemas.openxmlformats.org/drawingml/2006/main">
            <a:off x="685800" y="30670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    int damage = attackPower * 2;</a:t>
            </a:r>
          </a:p>
        </p:txBody>
      </p:sp>
      <p:sp>
        <p:nvSpPr>
          <p:cNvPr id="8" name="">
            <a:extLst xmlns:a="http://schemas.openxmlformats.org/drawingml/2006/main">
              <a:ext uri="{FF2B5EF4-FFF2-40B4-BE49-F238E27FC236}">
                <a16:creationId xmlns:a16="http://schemas.microsoft.com/office/drawing/2014/main" id="{E43C2E2C-D4DF-4162-9B57-75DE3EEFE8AC}"/>
              </a:ext>
            </a:extLst>
          </p:cNvPr>
          <p:cNvSpPr>
            <a:spLocks xmlns:a="http://schemas.openxmlformats.org/drawingml/2006/main" noGrp="1"/>
          </p:cNvSpPr>
          <p:nvPr/>
        </p:nvSpPr>
        <p:spPr>
          <a:xfrm xmlns:a="http://schemas.openxmlformats.org/drawingml/2006/main">
            <a:off x="685800" y="341947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System.out.println(</a:t>
            </a:r>
          </a:p>
        </p:txBody>
      </p:sp>
      <p:sp>
        <p:nvSpPr>
          <p:cNvPr id="9" name="">
            <a:extLst xmlns:a="http://schemas.openxmlformats.org/drawingml/2006/main">
              <a:ext uri="{FF2B5EF4-FFF2-40B4-BE49-F238E27FC236}">
                <a16:creationId xmlns:a16="http://schemas.microsoft.com/office/drawing/2014/main" id="{4E93523D-1830-4A7C-A7E6-1F8AE29AABB0}"/>
              </a:ext>
            </a:extLst>
          </p:cNvPr>
          <p:cNvSpPr>
            <a:spLocks xmlns:a="http://schemas.openxmlformats.org/drawingml/2006/main" noGrp="1"/>
          </p:cNvSpPr>
          <p:nvPr/>
        </p:nvSpPr>
        <p:spPr>
          <a:xfrm xmlns:a="http://schemas.openxmlformats.org/drawingml/2006/main">
            <a:off x="685800" y="37719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"화염구! 피해량: " + damage);</a:t>
            </a:r>
          </a:p>
        </p:txBody>
      </p:sp>
      <p:sp>
        <p:nvSpPr>
          <p:cNvPr id="10" name="">
            <a:extLst xmlns:a="http://schemas.openxmlformats.org/drawingml/2006/main">
              <a:ext uri="{FF2B5EF4-FFF2-40B4-BE49-F238E27FC236}">
                <a16:creationId xmlns:a16="http://schemas.microsoft.com/office/drawing/2014/main" id="{3449F72D-950A-41E9-8864-7AC923FD591A}"/>
              </a:ext>
            </a:extLst>
          </p:cNvPr>
          <p:cNvSpPr>
            <a:spLocks xmlns:a="http://schemas.openxmlformats.org/drawingml/2006/main" noGrp="1"/>
          </p:cNvSpPr>
          <p:nvPr/>
        </p:nvSpPr>
        <p:spPr>
          <a:xfrm xmlns:a="http://schemas.openxmlformats.org/drawingml/2006/main">
            <a:off x="685800" y="41243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    return damage;</a:t>
            </a:r>
          </a:p>
        </p:txBody>
      </p:sp>
      <p:sp>
        <p:nvSpPr>
          <p:cNvPr id="11" name="">
            <a:extLst xmlns:a="http://schemas.openxmlformats.org/drawingml/2006/main">
              <a:ext uri="{FF2B5EF4-FFF2-40B4-BE49-F238E27FC236}">
                <a16:creationId xmlns:a16="http://schemas.microsoft.com/office/drawing/2014/main" id="{3465A544-1227-4A0E-B308-BCF379F2B781}"/>
              </a:ext>
            </a:extLst>
          </p:cNvPr>
          <p:cNvSpPr>
            <a:spLocks xmlns:a="http://schemas.openxmlformats.org/drawingml/2006/main" noGrp="1"/>
          </p:cNvSpPr>
          <p:nvPr/>
        </p:nvSpPr>
        <p:spPr>
          <a:xfrm xmlns:a="http://schemas.openxmlformats.org/drawingml/2006/main">
            <a:off x="685800" y="44767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a:t>
            </a:r>
          </a:p>
        </p:txBody>
      </p:sp>
      <p:sp>
        <p:nvSpPr>
          <p:cNvPr id="12" name="">
            <a:extLst xmlns:a="http://schemas.openxmlformats.org/drawingml/2006/main">
              <a:ext uri="{FF2B5EF4-FFF2-40B4-BE49-F238E27FC236}">
                <a16:creationId xmlns:a16="http://schemas.microsoft.com/office/drawing/2014/main" id="{DF9F3CC0-5F0F-4073-AB5E-A3CD3584F2CD}"/>
              </a:ext>
            </a:extLst>
          </p:cNvPr>
          <p:cNvSpPr>
            <a:spLocks xmlns:a="http://schemas.openxmlformats.org/drawingml/2006/main" noGrp="1"/>
          </p:cNvSpPr>
          <p:nvPr/>
        </p:nvSpPr>
        <p:spPr>
          <a:xfrm xmlns:a="http://schemas.openxmlformats.org/drawingml/2006/main">
            <a:off x="8239125" y="19526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B400F"/>
                </a:solidFill>
                <a:latin typeface="Malgun Gothic"/>
                <a:ea typeface="Malgun Gothic"/>
                <a:cs typeface="Malgun Gothic"/>
              </a:defRPr>
            </a:pPr>
            <a:r>
              <a:rPr sz="2175" b="1">
                <a:solidFill>
                  <a:srgbClr val="AB400F"/>
                </a:solidFill>
                <a:latin typeface="Malgun Gothic"/>
                <a:ea typeface="Malgun Gothic"/>
                <a:cs typeface="Malgun Gothic"/>
              </a:rPr>
              <a:t>출력과 반환을 구분</a:t>
            </a:r>
          </a:p>
        </p:txBody>
      </p:sp>
      <p:sp>
        <p:nvSpPr>
          <p:cNvPr id="13" name="">
            <a:extLst xmlns:a="http://schemas.openxmlformats.org/drawingml/2006/main">
              <a:ext uri="{FF2B5EF4-FFF2-40B4-BE49-F238E27FC236}">
                <a16:creationId xmlns:a16="http://schemas.microsoft.com/office/drawing/2014/main" id="{C9C3C63D-E693-4F63-B467-61CB0DF9A044}"/>
              </a:ext>
            </a:extLst>
          </p:cNvPr>
          <p:cNvSpPr>
            <a:spLocks xmlns:a="http://schemas.openxmlformats.org/drawingml/2006/main" noGrp="1"/>
          </p:cNvSpPr>
          <p:nvPr/>
        </p:nvSpPr>
        <p:spPr>
          <a:xfrm xmlns:a="http://schemas.openxmlformats.org/drawingml/2006/main">
            <a:off x="8239125" y="2771775"/>
            <a:ext cx="3286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println: 화면에 표시</a:t>
            </a:r>
          </a:p>
          <a:p xmlns:a="http://schemas.openxmlformats.org/drawingml/2006/main">
            <a:r>
              <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return: 값을 전달</a:t>
            </a:r>
          </a:p>
          <a:p xmlns:a="http://schemas.openxmlformats.org/drawingml/2006/main">
            <a:r>
              <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int: 정수 하나를 반환</a:t>
            </a:r>
          </a:p>
        </p:txBody>
      </p:sp>
      <p:sp>
        <p:nvSpPr>
          <p:cNvPr id="14" name="">
            <a:extLst xmlns:a="http://schemas.openxmlformats.org/drawingml/2006/main">
              <a:ext uri="{FF2B5EF4-FFF2-40B4-BE49-F238E27FC236}">
                <a16:creationId xmlns:a16="http://schemas.microsoft.com/office/drawing/2014/main" id="{5C3F25BF-D259-4804-97AB-CA5A4397F326}"/>
              </a:ext>
            </a:extLst>
          </p:cNvPr>
          <p:cNvSpPr>
            <a:spLocks xmlns:a="http://schemas.openxmlformats.org/drawingml/2006/main" noGrp="1"/>
          </p:cNvSpPr>
          <p:nvPr/>
        </p:nvSpPr>
        <p:spPr>
          <a:xfrm xmlns:a="http://schemas.openxmlformats.org/drawingml/2006/main">
            <a:off x="685800" y="5467350"/>
            <a:ext cx="1002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D60"/>
                </a:solidFill>
                <a:latin typeface="Malgun Gothic"/>
                <a:ea typeface="Malgun Gothic"/>
                <a:cs typeface="Malgun Gothic"/>
              </a:defRPr>
            </a:pPr>
            <a:r>
              <a:rPr sz="1650" b="0">
                <a:solidFill>
                  <a:srgbClr val="526D60"/>
                </a:solidFill>
                <a:latin typeface="Malgun Gothic"/>
                <a:ea typeface="Malgun Gothic"/>
                <a:cs typeface="Malgun Gothic"/>
              </a:rPr>
              <a:t>Mage.java의 클래스 선언과 specialAttack() 발췌 · 나머지 본문 생략</a:t>
            </a:r>
          </a:p>
        </p:txBody>
      </p:sp>
    </p:spTree>
    <p:extLst>
      <p:ext uri="{BB962C8B-B14F-4D97-AF65-F5344CB8AC3E}">
        <p14:creationId xmlns:p14="http://schemas.microsoft.com/office/powerpoint/2010/main" val="263762574"/>
      </p:ext>
    </p:extLst>
  </p:cSld>
</p:sld>
</file>

<file path=ppt/slides/slide6.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7d46e527da490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55C4964-870E-4CEA-9A98-3D9BAE60A40B}"/>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핵심 2. 직업이 달라도 같은 호출</a:t>
            </a:r>
          </a:p>
        </p:txBody>
      </p:sp>
      <p:sp>
        <p:nvSpPr>
          <p:cNvPr id="3" name="">
            <a:extLst xmlns:a="http://schemas.openxmlformats.org/drawingml/2006/main">
              <a:ext uri="{FF2B5EF4-FFF2-40B4-BE49-F238E27FC236}">
                <a16:creationId xmlns:a16="http://schemas.microsoft.com/office/drawing/2014/main" id="{9FD1B5D2-3BFF-4124-8D1A-0806FB9521AB}"/>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06</a:t>
            </a:r>
          </a:p>
        </p:txBody>
      </p:sp>
      <p:sp>
        <p:nvSpPr>
          <p:cNvPr id="4" name="">
            <a:extLst xmlns:a="http://schemas.openxmlformats.org/drawingml/2006/main">
              <a:ext uri="{FF2B5EF4-FFF2-40B4-BE49-F238E27FC236}">
                <a16:creationId xmlns:a16="http://schemas.microsoft.com/office/drawing/2014/main" id="{8B7E6232-8009-4B50-BD0E-014121A71DFE}"/>
              </a:ext>
            </a:extLst>
          </p:cNvPr>
          <p:cNvSpPr>
            <a:spLocks xmlns:a="http://schemas.openxmlformats.org/drawingml/2006/main" noGrp="1"/>
          </p:cNvSpPr>
          <p:nvPr/>
        </p:nvSpPr>
        <p:spPr>
          <a:xfrm xmlns:a="http://schemas.openxmlformats.org/drawingml/2006/main">
            <a:off x="685800" y="18097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GameCharacter player;</a:t>
            </a:r>
          </a:p>
        </p:txBody>
      </p:sp>
      <p:sp>
        <p:nvSpPr>
          <p:cNvPr id="5" name="">
            <a:extLst xmlns:a="http://schemas.openxmlformats.org/drawingml/2006/main">
              <a:ext uri="{FF2B5EF4-FFF2-40B4-BE49-F238E27FC236}">
                <a16:creationId xmlns:a16="http://schemas.microsoft.com/office/drawing/2014/main" id="{ADA9DD5E-C423-4F38-8063-C6E57E3BC411}"/>
              </a:ext>
            </a:extLst>
          </p:cNvPr>
          <p:cNvSpPr>
            <a:spLocks xmlns:a="http://schemas.openxmlformats.org/drawingml/2006/main" noGrp="1"/>
          </p:cNvSpPr>
          <p:nvPr/>
        </p:nvSpPr>
        <p:spPr>
          <a:xfrm xmlns:a="http://schemas.openxmlformats.org/drawingml/2006/main">
            <a:off x="685800" y="216217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6" name="">
            <a:extLst xmlns:a="http://schemas.openxmlformats.org/drawingml/2006/main">
              <a:ext uri="{FF2B5EF4-FFF2-40B4-BE49-F238E27FC236}">
                <a16:creationId xmlns:a16="http://schemas.microsoft.com/office/drawing/2014/main" id="{25D635D3-2873-4F74-95AC-29724D5B7BF5}"/>
              </a:ext>
            </a:extLst>
          </p:cNvPr>
          <p:cNvSpPr>
            <a:spLocks xmlns:a="http://schemas.openxmlformats.org/drawingml/2006/main" noGrp="1"/>
          </p:cNvSpPr>
          <p:nvPr/>
        </p:nvSpPr>
        <p:spPr>
          <a:xfrm xmlns:a="http://schemas.openxmlformats.org/drawingml/2006/main">
            <a:off x="685800" y="25146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if (job.equals("1")) {</a:t>
            </a:r>
          </a:p>
        </p:txBody>
      </p:sp>
      <p:sp>
        <p:nvSpPr>
          <p:cNvPr id="7" name="">
            <a:extLst xmlns:a="http://schemas.openxmlformats.org/drawingml/2006/main">
              <a:ext uri="{FF2B5EF4-FFF2-40B4-BE49-F238E27FC236}">
                <a16:creationId xmlns:a16="http://schemas.microsoft.com/office/drawing/2014/main" id="{D0283253-0F84-4379-B477-E6FD1F4BEDF9}"/>
              </a:ext>
            </a:extLst>
          </p:cNvPr>
          <p:cNvSpPr>
            <a:spLocks xmlns:a="http://schemas.openxmlformats.org/drawingml/2006/main" noGrp="1"/>
          </p:cNvSpPr>
          <p:nvPr/>
        </p:nvSpPr>
        <p:spPr>
          <a:xfrm xmlns:a="http://schemas.openxmlformats.org/drawingml/2006/main">
            <a:off x="685800" y="28670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player = new Warrior();</a:t>
            </a:r>
          </a:p>
        </p:txBody>
      </p:sp>
      <p:sp>
        <p:nvSpPr>
          <p:cNvPr id="8" name="">
            <a:extLst xmlns:a="http://schemas.openxmlformats.org/drawingml/2006/main">
              <a:ext uri="{FF2B5EF4-FFF2-40B4-BE49-F238E27FC236}">
                <a16:creationId xmlns:a16="http://schemas.microsoft.com/office/drawing/2014/main" id="{F0AE54D1-9707-433C-B420-EEA904712F43}"/>
              </a:ext>
            </a:extLst>
          </p:cNvPr>
          <p:cNvSpPr>
            <a:spLocks xmlns:a="http://schemas.openxmlformats.org/drawingml/2006/main" noGrp="1"/>
          </p:cNvSpPr>
          <p:nvPr/>
        </p:nvSpPr>
        <p:spPr>
          <a:xfrm xmlns:a="http://schemas.openxmlformats.org/drawingml/2006/main">
            <a:off x="685800" y="32194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else if (job.equals("2")) {</a:t>
            </a:r>
          </a:p>
        </p:txBody>
      </p:sp>
      <p:sp>
        <p:nvSpPr>
          <p:cNvPr id="9" name="">
            <a:extLst xmlns:a="http://schemas.openxmlformats.org/drawingml/2006/main">
              <a:ext uri="{FF2B5EF4-FFF2-40B4-BE49-F238E27FC236}">
                <a16:creationId xmlns:a16="http://schemas.microsoft.com/office/drawing/2014/main" id="{37159EAE-B380-4F54-8E37-CFCE14DFC768}"/>
              </a:ext>
            </a:extLst>
          </p:cNvPr>
          <p:cNvSpPr>
            <a:spLocks xmlns:a="http://schemas.openxmlformats.org/drawingml/2006/main" noGrp="1"/>
          </p:cNvSpPr>
          <p:nvPr/>
        </p:nvSpPr>
        <p:spPr>
          <a:xfrm xmlns:a="http://schemas.openxmlformats.org/drawingml/2006/main">
            <a:off x="685800" y="357187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player = new Mage();</a:t>
            </a:r>
          </a:p>
        </p:txBody>
      </p:sp>
      <p:sp>
        <p:nvSpPr>
          <p:cNvPr id="10" name="">
            <a:extLst xmlns:a="http://schemas.openxmlformats.org/drawingml/2006/main">
              <a:ext uri="{FF2B5EF4-FFF2-40B4-BE49-F238E27FC236}">
                <a16:creationId xmlns:a16="http://schemas.microsoft.com/office/drawing/2014/main" id="{D1AB24F0-B542-4DBD-A607-B7D969F98DE3}"/>
              </a:ext>
            </a:extLst>
          </p:cNvPr>
          <p:cNvSpPr>
            <a:spLocks xmlns:a="http://schemas.openxmlformats.org/drawingml/2006/main" noGrp="1"/>
          </p:cNvSpPr>
          <p:nvPr/>
        </p:nvSpPr>
        <p:spPr>
          <a:xfrm xmlns:a="http://schemas.openxmlformats.org/drawingml/2006/main">
            <a:off x="685800" y="39243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CF22C2F0-7420-4D1A-9B38-5468638C93EC}"/>
              </a:ext>
            </a:extLst>
          </p:cNvPr>
          <p:cNvSpPr>
            <a:spLocks xmlns:a="http://schemas.openxmlformats.org/drawingml/2006/main" noGrp="1"/>
          </p:cNvSpPr>
          <p:nvPr/>
        </p:nvSpPr>
        <p:spPr>
          <a:xfrm xmlns:a="http://schemas.openxmlformats.org/drawingml/2006/main">
            <a:off x="685800" y="48577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20372C"/>
                </a:solidFill>
                <a:latin typeface="Consolas"/>
                <a:ea typeface="Consolas"/>
                <a:cs typeface="Consolas"/>
              </a:defRPr>
            </a:pPr>
            <a:r>
              <a:rPr sz="2475" b="0">
                <a:solidFill>
                  <a:srgbClr val="20372C"/>
                </a:solidFill>
                <a:latin typeface="Consolas"/>
                <a:ea typeface="Consolas"/>
                <a:cs typeface="Consolas"/>
              </a:rPr>
              <a:t>damage = player.attack();</a:t>
            </a:r>
          </a:p>
        </p:txBody>
      </p:sp>
      <p:sp>
        <p:nvSpPr>
          <p:cNvPr id="12" name="">
            <a:extLst xmlns:a="http://schemas.openxmlformats.org/drawingml/2006/main">
              <a:ext uri="{FF2B5EF4-FFF2-40B4-BE49-F238E27FC236}">
                <a16:creationId xmlns:a16="http://schemas.microsoft.com/office/drawing/2014/main" id="{0C554F95-9D04-43FF-A059-3CF0A2B96A8F}"/>
              </a:ext>
            </a:extLst>
          </p:cNvPr>
          <p:cNvSpPr>
            <a:spLocks xmlns:a="http://schemas.openxmlformats.org/drawingml/2006/main" noGrp="1"/>
          </p:cNvSpPr>
          <p:nvPr/>
        </p:nvSpPr>
        <p:spPr>
          <a:xfrm xmlns:a="http://schemas.openxmlformats.org/drawingml/2006/main">
            <a:off x="8239125" y="18764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B400F"/>
                </a:solidFill>
                <a:latin typeface="Malgun Gothic"/>
                <a:ea typeface="Malgun Gothic"/>
                <a:cs typeface="Malgun Gothic"/>
              </a:defRPr>
            </a:pPr>
            <a:r>
              <a:rPr sz="2175" b="1">
                <a:solidFill>
                  <a:srgbClr val="AB400F"/>
                </a:solidFill>
                <a:latin typeface="Malgun Gothic"/>
                <a:ea typeface="Malgun Gothic"/>
                <a:cs typeface="Malgun Gothic"/>
              </a:rPr>
              <a:t>추가 학습: 다형성</a:t>
            </a:r>
          </a:p>
        </p:txBody>
      </p:sp>
      <p:sp>
        <p:nvSpPr>
          <p:cNvPr id="13" name="">
            <a:extLst xmlns:a="http://schemas.openxmlformats.org/drawingml/2006/main">
              <a:ext uri="{FF2B5EF4-FFF2-40B4-BE49-F238E27FC236}">
                <a16:creationId xmlns:a16="http://schemas.microsoft.com/office/drawing/2014/main" id="{1B6273C1-6024-4773-A6DE-278AE2A38256}"/>
              </a:ext>
            </a:extLst>
          </p:cNvPr>
          <p:cNvSpPr>
            <a:spLocks xmlns:a="http://schemas.openxmlformats.org/drawingml/2006/main" noGrp="1"/>
          </p:cNvSpPr>
          <p:nvPr/>
        </p:nvSpPr>
        <p:spPr>
          <a:xfrm xmlns:a="http://schemas.openxmlformats.org/drawingml/2006/main">
            <a:off x="8239125" y="2695575"/>
            <a:ext cx="3286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변수 타입은 부모</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GameCharacter</a:t>
            </a:r>
          </a:p>
          <a:p xmlns:a="http://schemas.openxmlformats.org/drawingml/2006/main">
            <a:r>
              <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실제 객체에 맞는</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자식 메서드를 실행</a:t>
            </a:r>
          </a:p>
        </p:txBody>
      </p:sp>
      <p:sp>
        <p:nvSpPr>
          <p:cNvPr id="14" name="">
            <a:extLst xmlns:a="http://schemas.openxmlformats.org/drawingml/2006/main">
              <a:ext uri="{FF2B5EF4-FFF2-40B4-BE49-F238E27FC236}">
                <a16:creationId xmlns:a16="http://schemas.microsoft.com/office/drawing/2014/main" id="{2E77C36F-42C9-43BC-BD65-1A855276F338}"/>
              </a:ext>
            </a:extLst>
          </p:cNvPr>
          <p:cNvSpPr>
            <a:spLocks xmlns:a="http://schemas.openxmlformats.org/drawingml/2006/main" noGrp="1"/>
          </p:cNvSpPr>
          <p:nvPr/>
        </p:nvSpPr>
        <p:spPr>
          <a:xfrm xmlns:a="http://schemas.openxmlformats.org/drawingml/2006/main">
            <a:off x="685800" y="5467350"/>
            <a:ext cx="1002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D60"/>
                </a:solidFill>
                <a:latin typeface="Malgun Gothic"/>
                <a:ea typeface="Malgun Gothic"/>
                <a:cs typeface="Malgun Gothic"/>
              </a:defRPr>
            </a:pPr>
            <a:r>
              <a:rPr sz="1650" b="0">
                <a:solidFill>
                  <a:srgbClr val="526D60"/>
                </a:solidFill>
                <a:latin typeface="Malgun Gothic"/>
                <a:ea typeface="Malgun Gothic"/>
                <a:cs typeface="Malgun Gothic"/>
              </a:rPr>
              <a:t>Main.java 일부 발췌 · 궁수·도적 선택과 종료·잘못된 입력 분기는 생략</a:t>
            </a:r>
          </a:p>
        </p:txBody>
      </p:sp>
    </p:spTree>
    <p:extLst>
      <p:ext uri="{BB962C8B-B14F-4D97-AF65-F5344CB8AC3E}">
        <p14:creationId xmlns:p14="http://schemas.microsoft.com/office/powerpoint/2010/main" val="1945297920"/>
      </p:ext>
    </p:extLst>
  </p:cSld>
</p:sld>
</file>

<file path=ppt/slides/slide7.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7bca7df1fb4a7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4F6F82-EB25-49CA-AB2A-CAA9B9A6053C}"/>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핵심 3. 피해량으로 전투 상태 변경</a:t>
            </a:r>
          </a:p>
        </p:txBody>
      </p:sp>
      <p:sp>
        <p:nvSpPr>
          <p:cNvPr id="3" name="">
            <a:extLst xmlns:a="http://schemas.openxmlformats.org/drawingml/2006/main">
              <a:ext uri="{FF2B5EF4-FFF2-40B4-BE49-F238E27FC236}">
                <a16:creationId xmlns:a16="http://schemas.microsoft.com/office/drawing/2014/main" id="{C0E0D242-14E4-4409-8750-E18FE5054C53}"/>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07</a:t>
            </a:r>
          </a:p>
        </p:txBody>
      </p:sp>
      <p:sp>
        <p:nvSpPr>
          <p:cNvPr id="4" name="">
            <a:extLst xmlns:a="http://schemas.openxmlformats.org/drawingml/2006/main">
              <a:ext uri="{FF2B5EF4-FFF2-40B4-BE49-F238E27FC236}">
                <a16:creationId xmlns:a16="http://schemas.microsoft.com/office/drawing/2014/main" id="{5BE9CF8B-3E63-4E15-AB45-8BA2CD3557AA}"/>
              </a:ext>
            </a:extLst>
          </p:cNvPr>
          <p:cNvSpPr>
            <a:spLocks xmlns:a="http://schemas.openxmlformats.org/drawingml/2006/main" noGrp="1"/>
          </p:cNvSpPr>
          <p:nvPr/>
        </p:nvSpPr>
        <p:spPr>
          <a:xfrm xmlns:a="http://schemas.openxmlformats.org/drawingml/2006/main">
            <a:off x="685800" y="18383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monsterHp -= damage;</a:t>
            </a:r>
          </a:p>
        </p:txBody>
      </p:sp>
      <p:sp>
        <p:nvSpPr>
          <p:cNvPr id="5" name="">
            <a:extLst xmlns:a="http://schemas.openxmlformats.org/drawingml/2006/main">
              <a:ext uri="{FF2B5EF4-FFF2-40B4-BE49-F238E27FC236}">
                <a16:creationId xmlns:a16="http://schemas.microsoft.com/office/drawing/2014/main" id="{AECF7797-CF50-4025-91C0-EAD257E47D0E}"/>
              </a:ext>
            </a:extLst>
          </p:cNvPr>
          <p:cNvSpPr>
            <a:spLocks xmlns:a="http://schemas.openxmlformats.org/drawingml/2006/main" noGrp="1"/>
          </p:cNvSpPr>
          <p:nvPr/>
        </p:nvSpPr>
        <p:spPr>
          <a:xfrm xmlns:a="http://schemas.openxmlformats.org/drawingml/2006/main">
            <a:off x="685800" y="21907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if (monsterHp &lt;= 0) {</a:t>
            </a:r>
          </a:p>
        </p:txBody>
      </p:sp>
      <p:sp>
        <p:nvSpPr>
          <p:cNvPr id="6" name="">
            <a:extLst xmlns:a="http://schemas.openxmlformats.org/drawingml/2006/main">
              <a:ext uri="{FF2B5EF4-FFF2-40B4-BE49-F238E27FC236}">
                <a16:creationId xmlns:a16="http://schemas.microsoft.com/office/drawing/2014/main" id="{5CFE1BB4-C8BA-4BBC-8C61-FA6B922547A1}"/>
              </a:ext>
            </a:extLst>
          </p:cNvPr>
          <p:cNvSpPr>
            <a:spLocks xmlns:a="http://schemas.openxmlformats.org/drawingml/2006/main" noGrp="1"/>
          </p:cNvSpPr>
          <p:nvPr/>
        </p:nvSpPr>
        <p:spPr>
          <a:xfrm xmlns:a="http://schemas.openxmlformats.org/drawingml/2006/main">
            <a:off x="685800" y="254317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monsterHp = 0;</a:t>
            </a:r>
          </a:p>
        </p:txBody>
      </p:sp>
      <p:sp>
        <p:nvSpPr>
          <p:cNvPr id="7" name="">
            <a:extLst xmlns:a="http://schemas.openxmlformats.org/drawingml/2006/main">
              <a:ext uri="{FF2B5EF4-FFF2-40B4-BE49-F238E27FC236}">
                <a16:creationId xmlns:a16="http://schemas.microsoft.com/office/drawing/2014/main" id="{DF9580C1-C128-4132-97E9-EE05EC411B1B}"/>
              </a:ext>
            </a:extLst>
          </p:cNvPr>
          <p:cNvSpPr>
            <a:spLocks xmlns:a="http://schemas.openxmlformats.org/drawingml/2006/main" noGrp="1"/>
          </p:cNvSpPr>
          <p:nvPr/>
        </p:nvSpPr>
        <p:spPr>
          <a:xfrm xmlns:a="http://schemas.openxmlformats.org/drawingml/2006/main">
            <a:off x="685800" y="28956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break;</a:t>
            </a:r>
          </a:p>
        </p:txBody>
      </p:sp>
      <p:sp>
        <p:nvSpPr>
          <p:cNvPr id="8" name="">
            <a:extLst xmlns:a="http://schemas.openxmlformats.org/drawingml/2006/main">
              <a:ext uri="{FF2B5EF4-FFF2-40B4-BE49-F238E27FC236}">
                <a16:creationId xmlns:a16="http://schemas.microsoft.com/office/drawing/2014/main" id="{A10C026B-4D3E-4F97-A1F3-D5FD2157D358}"/>
              </a:ext>
            </a:extLst>
          </p:cNvPr>
          <p:cNvSpPr>
            <a:spLocks xmlns:a="http://schemas.openxmlformats.org/drawingml/2006/main" noGrp="1"/>
          </p:cNvSpPr>
          <p:nvPr/>
        </p:nvSpPr>
        <p:spPr>
          <a:xfrm xmlns:a="http://schemas.openxmlformats.org/drawingml/2006/main">
            <a:off x="685800" y="32480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a:t>
            </a:r>
          </a:p>
        </p:txBody>
      </p:sp>
      <p:sp>
        <p:nvSpPr>
          <p:cNvPr id="9" name="">
            <a:extLst xmlns:a="http://schemas.openxmlformats.org/drawingml/2006/main">
              <a:ext uri="{FF2B5EF4-FFF2-40B4-BE49-F238E27FC236}">
                <a16:creationId xmlns:a16="http://schemas.microsoft.com/office/drawing/2014/main" id="{973EFF39-2DB1-43F7-BD8C-F3111CE3F8E7}"/>
              </a:ext>
            </a:extLst>
          </p:cNvPr>
          <p:cNvSpPr>
            <a:spLocks xmlns:a="http://schemas.openxmlformats.org/drawingml/2006/main" noGrp="1"/>
          </p:cNvSpPr>
          <p:nvPr/>
        </p:nvSpPr>
        <p:spPr>
          <a:xfrm xmlns:a="http://schemas.openxmlformats.org/drawingml/2006/main">
            <a:off x="685800" y="360045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4A58EC86-3E3B-4C82-AE7D-760690A090F1}"/>
              </a:ext>
            </a:extLst>
          </p:cNvPr>
          <p:cNvSpPr>
            <a:spLocks xmlns:a="http://schemas.openxmlformats.org/drawingml/2006/main" noGrp="1"/>
          </p:cNvSpPr>
          <p:nvPr/>
        </p:nvSpPr>
        <p:spPr>
          <a:xfrm xmlns:a="http://schemas.openxmlformats.org/drawingml/2006/main">
            <a:off x="685800" y="395287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36"/>
                </a:solidFill>
                <a:latin typeface="Consolas"/>
                <a:ea typeface="Consolas"/>
                <a:cs typeface="Consolas"/>
              </a:defRPr>
            </a:pPr>
            <a:r>
              <a:rPr sz="2025" b="0">
                <a:solidFill>
                  <a:srgbClr val="166536"/>
                </a:solidFill>
                <a:latin typeface="Consolas"/>
                <a:ea typeface="Consolas"/>
                <a:cs typeface="Consolas"/>
              </a:rPr>
              <a:t>int enemyDamage =</a:t>
            </a:r>
          </a:p>
        </p:txBody>
      </p:sp>
      <p:sp>
        <p:nvSpPr>
          <p:cNvPr id="11" name="">
            <a:extLst xmlns:a="http://schemas.openxmlformats.org/drawingml/2006/main">
              <a:ext uri="{FF2B5EF4-FFF2-40B4-BE49-F238E27FC236}">
                <a16:creationId xmlns:a16="http://schemas.microsoft.com/office/drawing/2014/main" id="{C2729573-A095-44C1-A58A-C9B83A1FF21D}"/>
              </a:ext>
            </a:extLst>
          </p:cNvPr>
          <p:cNvSpPr>
            <a:spLocks xmlns:a="http://schemas.openxmlformats.org/drawingml/2006/main" noGrp="1"/>
          </p:cNvSpPr>
          <p:nvPr/>
        </p:nvSpPr>
        <p:spPr>
          <a:xfrm xmlns:a="http://schemas.openxmlformats.org/drawingml/2006/main">
            <a:off x="685800" y="4305300"/>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    (int) (Math.random() * 8) + 14;</a:t>
            </a:r>
          </a:p>
        </p:txBody>
      </p:sp>
      <p:sp>
        <p:nvSpPr>
          <p:cNvPr id="12" name="">
            <a:extLst xmlns:a="http://schemas.openxmlformats.org/drawingml/2006/main">
              <a:ext uri="{FF2B5EF4-FFF2-40B4-BE49-F238E27FC236}">
                <a16:creationId xmlns:a16="http://schemas.microsoft.com/office/drawing/2014/main" id="{14F19C0F-0856-437A-A723-FF5952496B91}"/>
              </a:ext>
            </a:extLst>
          </p:cNvPr>
          <p:cNvSpPr>
            <a:spLocks xmlns:a="http://schemas.openxmlformats.org/drawingml/2006/main" noGrp="1"/>
          </p:cNvSpPr>
          <p:nvPr/>
        </p:nvSpPr>
        <p:spPr>
          <a:xfrm xmlns:a="http://schemas.openxmlformats.org/drawingml/2006/main">
            <a:off x="685800" y="4657725"/>
            <a:ext cx="7381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Consolas"/>
                <a:ea typeface="Consolas"/>
                <a:cs typeface="Consolas"/>
              </a:defRPr>
            </a:pPr>
            <a:r>
              <a:rPr sz="2025" b="0">
                <a:solidFill>
                  <a:srgbClr val="20372C"/>
                </a:solidFill>
                <a:latin typeface="Consolas"/>
                <a:ea typeface="Consolas"/>
                <a:cs typeface="Consolas"/>
              </a:rPr>
              <a:t>player.takeDamage(enemyDamage);</a:t>
            </a:r>
          </a:p>
        </p:txBody>
      </p:sp>
      <p:sp>
        <p:nvSpPr>
          <p:cNvPr id="13" name="">
            <a:extLst xmlns:a="http://schemas.openxmlformats.org/drawingml/2006/main">
              <a:ext uri="{FF2B5EF4-FFF2-40B4-BE49-F238E27FC236}">
                <a16:creationId xmlns:a16="http://schemas.microsoft.com/office/drawing/2014/main" id="{7CBDF102-8CFA-4AE7-9C30-A4869CA3683A}"/>
              </a:ext>
            </a:extLst>
          </p:cNvPr>
          <p:cNvSpPr>
            <a:spLocks xmlns:a="http://schemas.openxmlformats.org/drawingml/2006/main" noGrp="1"/>
          </p:cNvSpPr>
          <p:nvPr/>
        </p:nvSpPr>
        <p:spPr>
          <a:xfrm xmlns:a="http://schemas.openxmlformats.org/drawingml/2006/main">
            <a:off x="8239125" y="1838325"/>
            <a:ext cx="328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B400F"/>
                </a:solidFill>
                <a:latin typeface="Malgun Gothic"/>
                <a:ea typeface="Malgun Gothic"/>
                <a:cs typeface="Malgun Gothic"/>
              </a:defRPr>
            </a:pPr>
            <a:r>
              <a:rPr sz="2175" b="1">
                <a:solidFill>
                  <a:srgbClr val="AB400F"/>
                </a:solidFill>
                <a:latin typeface="Malgun Gothic"/>
                <a:ea typeface="Malgun Gothic"/>
                <a:cs typeface="Malgun Gothic"/>
              </a:rPr>
              <a:t>처치 확인 후 반격</a:t>
            </a:r>
          </a:p>
        </p:txBody>
      </p:sp>
      <p:sp>
        <p:nvSpPr>
          <p:cNvPr id="14" name="">
            <a:extLst xmlns:a="http://schemas.openxmlformats.org/drawingml/2006/main">
              <a:ext uri="{FF2B5EF4-FFF2-40B4-BE49-F238E27FC236}">
                <a16:creationId xmlns:a16="http://schemas.microsoft.com/office/drawing/2014/main" id="{204B8882-CE8C-417E-B869-04B2256A6D3E}"/>
              </a:ext>
            </a:extLst>
          </p:cNvPr>
          <p:cNvSpPr>
            <a:spLocks xmlns:a="http://schemas.openxmlformats.org/drawingml/2006/main" noGrp="1"/>
          </p:cNvSpPr>
          <p:nvPr/>
        </p:nvSpPr>
        <p:spPr>
          <a:xfrm xmlns:a="http://schemas.openxmlformats.org/drawingml/2006/main">
            <a:off x="8239125" y="2657475"/>
            <a:ext cx="3286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피해량만큼 체력 감소</a:t>
            </a:r>
          </a:p>
          <a:p xmlns:a="http://schemas.openxmlformats.org/drawingml/2006/main">
            <a:r>
              <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0 이하면 전투 종료</a:t>
            </a:r>
          </a:p>
          <a:p xmlns:a="http://schemas.openxmlformats.org/drawingml/2006/main">
            <a:r>
              <a:t/>
            </a:r>
          </a:p>
          <a:p xmlns:a="http://schemas.openxmlformats.org/drawingml/2006/main">
            <a:pPr>
              <a:defRPr sz="2025" b="0">
                <a:solidFill>
                  <a:srgbClr val="20372C"/>
                </a:solidFill>
                <a:latin typeface="Malgun Gothic"/>
                <a:ea typeface="Malgun Gothic"/>
                <a:cs typeface="Malgun Gothic"/>
              </a:defRPr>
            </a:pPr>
            <a:r>
              <a:rPr sz="2025" b="0">
                <a:solidFill>
                  <a:srgbClr val="20372C"/>
                </a:solidFill>
                <a:latin typeface="Malgun Gothic"/>
                <a:ea typeface="Malgun Gothic"/>
                <a:cs typeface="Malgun Gothic"/>
              </a:rPr>
              <a:t>살아 있으면 14~21 반격</a:t>
            </a:r>
          </a:p>
        </p:txBody>
      </p:sp>
      <p:sp>
        <p:nvSpPr>
          <p:cNvPr id="15" name="">
            <a:extLst xmlns:a="http://schemas.openxmlformats.org/drawingml/2006/main">
              <a:ext uri="{FF2B5EF4-FFF2-40B4-BE49-F238E27FC236}">
                <a16:creationId xmlns:a16="http://schemas.microsoft.com/office/drawing/2014/main" id="{2CB86B53-3343-471E-80D6-4694A7041B31}"/>
              </a:ext>
            </a:extLst>
          </p:cNvPr>
          <p:cNvSpPr>
            <a:spLocks xmlns:a="http://schemas.openxmlformats.org/drawingml/2006/main" noGrp="1"/>
          </p:cNvSpPr>
          <p:nvPr/>
        </p:nvSpPr>
        <p:spPr>
          <a:xfrm xmlns:a="http://schemas.openxmlformats.org/drawingml/2006/main">
            <a:off x="685800" y="5467350"/>
            <a:ext cx="10029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D60"/>
                </a:solidFill>
                <a:latin typeface="Malgun Gothic"/>
                <a:ea typeface="Malgun Gothic"/>
                <a:cs typeface="Malgun Gothic"/>
              </a:defRPr>
            </a:pPr>
            <a:r>
              <a:rPr sz="1650" b="0">
                <a:solidFill>
                  <a:srgbClr val="526D60"/>
                </a:solidFill>
                <a:latin typeface="Malgun Gothic"/>
                <a:ea typeface="Malgun Gothic"/>
                <a:cs typeface="Malgun Gothic"/>
              </a:rPr>
              <a:t>Main.java 일부 발췌 · 반격 안내 출력은 생략</a:t>
            </a:r>
          </a:p>
        </p:txBody>
      </p:sp>
    </p:spTree>
    <p:extLst>
      <p:ext uri="{BB962C8B-B14F-4D97-AF65-F5344CB8AC3E}">
        <p14:creationId xmlns:p14="http://schemas.microsoft.com/office/powerpoint/2010/main" val="239385572"/>
      </p:ext>
    </p:extLst>
  </p:cSld>
</p:sld>
</file>

<file path=ppt/slides/slide8.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45cc78bbd84f0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CAC7E17-AFDC-470D-A8BB-41A7051A3F6C}"/>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실행으로 확인할 부분</a:t>
            </a:r>
          </a:p>
        </p:txBody>
      </p:sp>
      <p:sp>
        <p:nvSpPr>
          <p:cNvPr id="3" name="">
            <a:extLst xmlns:a="http://schemas.openxmlformats.org/drawingml/2006/main">
              <a:ext uri="{FF2B5EF4-FFF2-40B4-BE49-F238E27FC236}">
                <a16:creationId xmlns:a16="http://schemas.microsoft.com/office/drawing/2014/main" id="{B580E09A-77D4-4139-A80C-8CA688558ADC}"/>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08</a:t>
            </a:r>
          </a:p>
        </p:txBody>
      </p:sp>
      <p:sp>
        <p:nvSpPr>
          <p:cNvPr id="4" name="">
            <a:extLst xmlns:a="http://schemas.openxmlformats.org/drawingml/2006/main">
              <a:ext uri="{FF2B5EF4-FFF2-40B4-BE49-F238E27FC236}">
                <a16:creationId xmlns:a16="http://schemas.microsoft.com/office/drawing/2014/main" id="{8D0B4B10-16E3-4C52-B460-DF0A713A1758}"/>
              </a:ext>
            </a:extLst>
          </p:cNvPr>
          <p:cNvSpPr>
            <a:spLocks xmlns:a="http://schemas.openxmlformats.org/drawingml/2006/main" noGrp="1"/>
          </p:cNvSpPr>
          <p:nvPr/>
        </p:nvSpPr>
        <p:spPr>
          <a:xfrm xmlns:a="http://schemas.openxmlformats.org/drawingml/2006/main">
            <a:off x="733425" y="17430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66536"/>
                </a:solidFill>
                <a:latin typeface="Malgun Gothic"/>
                <a:ea typeface="Malgun Gothic"/>
                <a:cs typeface="Malgun Gothic"/>
              </a:defRPr>
            </a:pPr>
            <a:r>
              <a:rPr sz="2550" b="1">
                <a:solidFill>
                  <a:srgbClr val="166536"/>
                </a:solidFill>
                <a:latin typeface="Malgun Gothic"/>
                <a:ea typeface="Malgun Gothic"/>
                <a:cs typeface="Malgun Gothic"/>
              </a:rPr>
              <a:t>전사 특수 공격 36</a:t>
            </a:r>
          </a:p>
        </p:txBody>
      </p:sp>
      <p:sp>
        <p:nvSpPr>
          <p:cNvPr id="5" name="">
            <a:extLst xmlns:a="http://schemas.openxmlformats.org/drawingml/2006/main">
              <a:ext uri="{FF2B5EF4-FFF2-40B4-BE49-F238E27FC236}">
                <a16:creationId xmlns:a16="http://schemas.microsoft.com/office/drawing/2014/main" id="{5D3CBB55-93A3-47AA-9BA0-9D7D102FD1CA}"/>
              </a:ext>
            </a:extLst>
          </p:cNvPr>
          <p:cNvSpPr>
            <a:spLocks xmlns:a="http://schemas.openxmlformats.org/drawingml/2006/main" noGrp="1"/>
          </p:cNvSpPr>
          <p:nvPr/>
        </p:nvSpPr>
        <p:spPr>
          <a:xfrm xmlns:a="http://schemas.openxmlformats.org/drawingml/2006/main">
            <a:off x="733425" y="25146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372C"/>
                </a:solidFill>
                <a:latin typeface="Malgun Gothic"/>
                <a:ea typeface="Malgun Gothic"/>
                <a:cs typeface="Malgun Gothic"/>
              </a:defRPr>
            </a:pPr>
            <a:r>
              <a:rPr sz="2325" b="0">
                <a:solidFill>
                  <a:srgbClr val="20372C"/>
                </a:solidFill>
                <a:latin typeface="Malgun Gothic"/>
                <a:ea typeface="Malgun Gothic"/>
                <a:cs typeface="Malgun Gothic"/>
              </a:rPr>
              <a:t>몬스터 체력: 시작 120, 첫 공격 후 84, 두 번째 후 48</a:t>
            </a:r>
          </a:p>
        </p:txBody>
      </p:sp>
      <p:sp>
        <p:nvSpPr>
          <p:cNvPr id="6" name="">
            <a:extLst xmlns:a="http://schemas.openxmlformats.org/drawingml/2006/main">
              <a:ext uri="{FF2B5EF4-FFF2-40B4-BE49-F238E27FC236}">
                <a16:creationId xmlns:a16="http://schemas.microsoft.com/office/drawing/2014/main" id="{8EBAC32D-EB6D-43F9-A6A7-706588DFB497}"/>
              </a:ext>
            </a:extLst>
          </p:cNvPr>
          <p:cNvSpPr>
            <a:spLocks xmlns:a="http://schemas.openxmlformats.org/drawingml/2006/main" noGrp="1"/>
          </p:cNvSpPr>
          <p:nvPr/>
        </p:nvSpPr>
        <p:spPr>
          <a:xfrm xmlns:a="http://schemas.openxmlformats.org/drawingml/2006/main">
            <a:off x="733425" y="3724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AB400F"/>
                </a:solidFill>
                <a:latin typeface="Malgun Gothic"/>
                <a:ea typeface="Malgun Gothic"/>
                <a:cs typeface="Malgun Gothic"/>
              </a:defRPr>
            </a:pPr>
            <a:r>
              <a:rPr sz="2325" b="1">
                <a:solidFill>
                  <a:srgbClr val="AB400F"/>
                </a:solidFill>
                <a:latin typeface="Malgun Gothic"/>
                <a:ea typeface="Malgun Gothic"/>
                <a:cs typeface="Malgun Gothic"/>
              </a:rPr>
              <a:t>확인할 동작</a:t>
            </a:r>
          </a:p>
        </p:txBody>
      </p:sp>
      <p:sp>
        <p:nvSpPr>
          <p:cNvPr id="7" name="">
            <a:extLst xmlns:a="http://schemas.openxmlformats.org/drawingml/2006/main">
              <a:ext uri="{FF2B5EF4-FFF2-40B4-BE49-F238E27FC236}">
                <a16:creationId xmlns:a16="http://schemas.microsoft.com/office/drawing/2014/main" id="{C9E3FB67-9FC8-447E-A3CB-25000863BBE4}"/>
              </a:ext>
            </a:extLst>
          </p:cNvPr>
          <p:cNvSpPr>
            <a:spLocks xmlns:a="http://schemas.openxmlformats.org/drawingml/2006/main" noGrp="1"/>
          </p:cNvSpPr>
          <p:nvPr/>
        </p:nvSpPr>
        <p:spPr>
          <a:xfrm xmlns:a="http://schemas.openxmlformats.org/drawingml/2006/main">
            <a:off x="733425" y="4448175"/>
            <a:ext cx="10668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횟수가 없거나 잘못된 입력이면 턴을 사용하지 않음</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회복은 최대 체력을 넘지 않음</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몬스터를 처치한 뒤에는 반격하지 않음</a:t>
            </a:r>
          </a:p>
        </p:txBody>
      </p:sp>
    </p:spTree>
    <p:extLst>
      <p:ext uri="{BB962C8B-B14F-4D97-AF65-F5344CB8AC3E}">
        <p14:creationId xmlns:p14="http://schemas.microsoft.com/office/powerpoint/2010/main" val="1874380323"/>
      </p:ext>
    </p:extLst>
  </p:cSld>
</p:sld>
</file>

<file path=ppt/slides/slide9.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dc4b4de2e624a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57312A-8614-4BF2-86FA-DB962E0E590F}"/>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어려운 부분과 복습할 순서</a:t>
            </a:r>
          </a:p>
        </p:txBody>
      </p:sp>
      <p:sp>
        <p:nvSpPr>
          <p:cNvPr id="3" name="">
            <a:extLst xmlns:a="http://schemas.openxmlformats.org/drawingml/2006/main">
              <a:ext uri="{FF2B5EF4-FFF2-40B4-BE49-F238E27FC236}">
                <a16:creationId xmlns:a16="http://schemas.microsoft.com/office/drawing/2014/main" id="{5E06BC9D-D239-4616-9240-001EE386D5C9}"/>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09</a:t>
            </a:r>
          </a:p>
        </p:txBody>
      </p:sp>
      <p:sp>
        <p:nvSpPr>
          <p:cNvPr id="4" name="">
            <a:extLst xmlns:a="http://schemas.openxmlformats.org/drawingml/2006/main">
              <a:ext uri="{FF2B5EF4-FFF2-40B4-BE49-F238E27FC236}">
                <a16:creationId xmlns:a16="http://schemas.microsoft.com/office/drawing/2014/main" id="{08D5721C-189C-4B7D-B001-398B4F644209}"/>
              </a:ext>
            </a:extLst>
          </p:cNvPr>
          <p:cNvSpPr>
            <a:spLocks xmlns:a="http://schemas.openxmlformats.org/drawingml/2006/main" noGrp="1"/>
          </p:cNvSpPr>
          <p:nvPr/>
        </p:nvSpPr>
        <p:spPr>
          <a:xfrm xmlns:a="http://schemas.openxmlformats.org/drawingml/2006/main">
            <a:off x="733425" y="17907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메서드 안의 값이 Main으로 돌아오는 과정</a:t>
            </a:r>
          </a:p>
        </p:txBody>
      </p:sp>
      <p:sp>
        <p:nvSpPr>
          <p:cNvPr id="5" name="">
            <a:extLst xmlns:a="http://schemas.openxmlformats.org/drawingml/2006/main">
              <a:ext uri="{FF2B5EF4-FFF2-40B4-BE49-F238E27FC236}">
                <a16:creationId xmlns:a16="http://schemas.microsoft.com/office/drawing/2014/main" id="{43AF8585-1C40-4A05-B8BC-0D5D39A1C356}"/>
              </a:ext>
            </a:extLst>
          </p:cNvPr>
          <p:cNvSpPr>
            <a:spLocks xmlns:a="http://schemas.openxmlformats.org/drawingml/2006/main" noGrp="1"/>
          </p:cNvSpPr>
          <p:nvPr/>
        </p:nvSpPr>
        <p:spPr>
          <a:xfrm xmlns:a="http://schemas.openxmlformats.org/drawingml/2006/main">
            <a:off x="685800" y="2647950"/>
            <a:ext cx="10477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66536"/>
                </a:solidFill>
                <a:latin typeface="Consolas"/>
                <a:ea typeface="Consolas"/>
                <a:cs typeface="Consolas"/>
              </a:defRPr>
            </a:pPr>
            <a:r>
              <a:rPr sz="2700" b="0">
                <a:solidFill>
                  <a:srgbClr val="166536"/>
                </a:solidFill>
                <a:latin typeface="Consolas"/>
                <a:ea typeface="Consolas"/>
                <a:cs typeface="Consolas"/>
              </a:rPr>
              <a:t>return damage;</a:t>
            </a:r>
          </a:p>
        </p:txBody>
      </p:sp>
      <p:sp>
        <p:nvSpPr>
          <p:cNvPr id="6" name="">
            <a:extLst xmlns:a="http://schemas.openxmlformats.org/drawingml/2006/main">
              <a:ext uri="{FF2B5EF4-FFF2-40B4-BE49-F238E27FC236}">
                <a16:creationId xmlns:a16="http://schemas.microsoft.com/office/drawing/2014/main" id="{2098DDCD-7364-4D53-AC0B-57F0DC8B4EF6}"/>
              </a:ext>
            </a:extLst>
          </p:cNvPr>
          <p:cNvSpPr>
            <a:spLocks xmlns:a="http://schemas.openxmlformats.org/drawingml/2006/main" noGrp="1"/>
          </p:cNvSpPr>
          <p:nvPr/>
        </p:nvSpPr>
        <p:spPr>
          <a:xfrm xmlns:a="http://schemas.openxmlformats.org/drawingml/2006/main">
            <a:off x="733425" y="33813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이름이 같아도 서로 다른 지역 변수</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반환된 값을 Main이 받아서 몬스터 체력에 적용</a:t>
            </a:r>
          </a:p>
        </p:txBody>
      </p:sp>
      <p:sp>
        <p:nvSpPr>
          <p:cNvPr id="7" name="">
            <a:extLst xmlns:a="http://schemas.openxmlformats.org/drawingml/2006/main">
              <a:ext uri="{FF2B5EF4-FFF2-40B4-BE49-F238E27FC236}">
                <a16:creationId xmlns:a16="http://schemas.microsoft.com/office/drawing/2014/main" id="{E7578F9B-9416-43F1-9027-76AA924CB46C}"/>
              </a:ext>
            </a:extLst>
          </p:cNvPr>
          <p:cNvSpPr>
            <a:spLocks xmlns:a="http://schemas.openxmlformats.org/drawingml/2006/main" noGrp="1"/>
          </p:cNvSpPr>
          <p:nvPr/>
        </p:nvSpPr>
        <p:spPr>
          <a:xfrm xmlns:a="http://schemas.openxmlformats.org/drawingml/2006/main">
            <a:off x="733425" y="48482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6536"/>
                </a:solidFill>
                <a:latin typeface="Malgun Gothic"/>
                <a:ea typeface="Malgun Gothic"/>
                <a:cs typeface="Malgun Gothic"/>
              </a:defRPr>
            </a:pPr>
            <a:r>
              <a:rPr sz="2400" b="1">
                <a:solidFill>
                  <a:srgbClr val="166536"/>
                </a:solidFill>
                <a:latin typeface="Malgun Gothic"/>
                <a:ea typeface="Malgun Gothic"/>
                <a:cs typeface="Malgun Gothic"/>
              </a:rPr>
              <a:t>공격 후 처치 여부를 먼저 확인하는 순서</a:t>
            </a:r>
          </a:p>
        </p:txBody>
      </p:sp>
      <p:sp>
        <p:nvSpPr>
          <p:cNvPr id="8" name="">
            <a:extLst xmlns:a="http://schemas.openxmlformats.org/drawingml/2006/main">
              <a:ext uri="{FF2B5EF4-FFF2-40B4-BE49-F238E27FC236}">
                <a16:creationId xmlns:a16="http://schemas.microsoft.com/office/drawing/2014/main" id="{0F9F7B01-25BB-4162-B190-0AD07B42AD8F}"/>
              </a:ext>
            </a:extLst>
          </p:cNvPr>
          <p:cNvSpPr>
            <a:spLocks xmlns:a="http://schemas.openxmlformats.org/drawingml/2006/main" noGrp="1"/>
          </p:cNvSpPr>
          <p:nvPr/>
        </p:nvSpPr>
        <p:spPr>
          <a:xfrm xmlns:a="http://schemas.openxmlformats.org/drawingml/2006/main">
            <a:off x="733425" y="552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372C"/>
                </a:solidFill>
                <a:latin typeface="Malgun Gothic"/>
                <a:ea typeface="Malgun Gothic"/>
                <a:cs typeface="Malgun Gothic"/>
              </a:defRPr>
            </a:pPr>
            <a:r>
              <a:rPr sz="2100" b="0">
                <a:solidFill>
                  <a:srgbClr val="20372C"/>
                </a:solidFill>
                <a:latin typeface="Malgun Gothic"/>
                <a:ea typeface="Malgun Gothic"/>
                <a:cs typeface="Malgun Gothic"/>
              </a:rPr>
              <a:t>계산, 반환, 체력 감소, 종료 판정을 한 단계씩 따라가기</a:t>
            </a:r>
          </a:p>
        </p:txBody>
      </p:sp>
    </p:spTree>
    <p:extLst>
      <p:ext uri="{BB962C8B-B14F-4D97-AF65-F5344CB8AC3E}">
        <p14:creationId xmlns:p14="http://schemas.microsoft.com/office/powerpoint/2010/main" val="228952280"/>
      </p:ext>
    </p:extLst>
  </p:cSld>
</p:sld>
</file>

<file path=ppt/slides/slide10.xml><?xml version="1.0" encoding="utf-8"?>
<p:sld xmlns:p="http://schemas.openxmlformats.org/presentationml/2006/main">
  <p:cSld>
    <p:bg>
      <p:bgPr>
        <a:solidFill xmlns:a="http://schemas.openxmlformats.org/drawingml/2006/main">
          <a:srgbClr val="E6F5E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3ceaca0ab1341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12EC85-7806-4AF0-801B-DE8F687F795C}"/>
              </a:ext>
            </a:extLst>
          </p:cNvPr>
          <p:cNvSpPr>
            <a:spLocks xmlns:a="http://schemas.openxmlformats.org/drawingml/2006/main" noGrp="1"/>
          </p:cNvSpPr>
          <p:nvPr/>
        </p:nvSpPr>
        <p:spPr>
          <a:xfrm xmlns:a="http://schemas.openxmlformats.org/drawingml/2006/main">
            <a:off x="628650" y="733425"/>
            <a:ext cx="10934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AB400F"/>
                </a:solidFill>
                <a:latin typeface="Malgun Gothic"/>
                <a:ea typeface="Malgun Gothic"/>
                <a:cs typeface="Malgun Gothic"/>
              </a:defRPr>
            </a:pPr>
            <a:r>
              <a:rPr sz="3225" b="1">
                <a:solidFill>
                  <a:srgbClr val="AB400F"/>
                </a:solidFill>
                <a:latin typeface="Malgun Gothic"/>
                <a:ea typeface="Malgun Gothic"/>
                <a:cs typeface="Malgun Gothic"/>
              </a:rPr>
              <a:t>코드의 아쉬운 점과 개선 방향</a:t>
            </a:r>
          </a:p>
        </p:txBody>
      </p:sp>
      <p:sp>
        <p:nvSpPr>
          <p:cNvPr id="3" name="">
            <a:extLst xmlns:a="http://schemas.openxmlformats.org/drawingml/2006/main">
              <a:ext uri="{FF2B5EF4-FFF2-40B4-BE49-F238E27FC236}">
                <a16:creationId xmlns:a16="http://schemas.microsoft.com/office/drawing/2014/main" id="{30A4ECA3-5AC2-49EB-B7B1-E9D64FEFF777}"/>
              </a:ext>
            </a:extLst>
          </p:cNvPr>
          <p:cNvSpPr>
            <a:spLocks xmlns:a="http://schemas.openxmlformats.org/drawingml/2006/main" noGrp="1"/>
          </p:cNvSpPr>
          <p:nvPr/>
        </p:nvSpPr>
        <p:spPr>
          <a:xfrm xmlns:a="http://schemas.openxmlformats.org/drawingml/2006/main">
            <a:off x="11239500" y="5572125"/>
            <a:ext cx="619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D60"/>
                </a:solidFill>
                <a:latin typeface="Malgun Gothic"/>
                <a:ea typeface="Malgun Gothic"/>
                <a:cs typeface="Malgun Gothic"/>
              </a:defRPr>
            </a:pPr>
            <a:r>
              <a:rPr sz="1425" b="0">
                <a:solidFill>
                  <a:srgbClr val="526D60"/>
                </a:solidFill>
                <a:latin typeface="Malgun Gothic"/>
                <a:ea typeface="Malgun Gothic"/>
                <a:cs typeface="Malgun Gothic"/>
              </a:rPr>
              <a:t>10</a:t>
            </a:r>
          </a:p>
        </p:txBody>
      </p:sp>
      <p:sp>
        <p:nvSpPr>
          <p:cNvPr id="4" name="">
            <a:extLst xmlns:a="http://schemas.openxmlformats.org/drawingml/2006/main">
              <a:ext uri="{FF2B5EF4-FFF2-40B4-BE49-F238E27FC236}">
                <a16:creationId xmlns:a16="http://schemas.microsoft.com/office/drawing/2014/main" id="{3226AD8D-B556-4F80-B32B-92A6307D21C8}"/>
              </a:ext>
            </a:extLst>
          </p:cNvPr>
          <p:cNvSpPr>
            <a:spLocks xmlns:a="http://schemas.openxmlformats.org/drawingml/2006/main" noGrp="1"/>
          </p:cNvSpPr>
          <p:nvPr/>
        </p:nvSpPr>
        <p:spPr>
          <a:xfrm xmlns:a="http://schemas.openxmlformats.org/drawingml/2006/main">
            <a:off x="733425" y="1762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6536"/>
                </a:solidFill>
                <a:latin typeface="Malgun Gothic"/>
                <a:ea typeface="Malgun Gothic"/>
                <a:cs typeface="Malgun Gothic"/>
              </a:defRPr>
            </a:pPr>
            <a:r>
              <a:rPr sz="2475" b="1">
                <a:solidFill>
                  <a:srgbClr val="166536"/>
                </a:solidFill>
                <a:latin typeface="Malgun Gothic"/>
                <a:ea typeface="Malgun Gothic"/>
                <a:cs typeface="Malgun Gothic"/>
              </a:rPr>
              <a:t>Main에 입력과 전투 처리가 모여 있음</a:t>
            </a:r>
          </a:p>
        </p:txBody>
      </p:sp>
      <p:sp>
        <p:nvSpPr>
          <p:cNvPr id="5" name="">
            <a:extLst xmlns:a="http://schemas.openxmlformats.org/drawingml/2006/main">
              <a:ext uri="{FF2B5EF4-FFF2-40B4-BE49-F238E27FC236}">
                <a16:creationId xmlns:a16="http://schemas.microsoft.com/office/drawing/2014/main" id="{6669FD7F-088C-49F5-AC87-12F44153871E}"/>
              </a:ext>
            </a:extLst>
          </p:cNvPr>
          <p:cNvSpPr>
            <a:spLocks xmlns:a="http://schemas.openxmlformats.org/drawingml/2006/main" noGrp="1"/>
          </p:cNvSpPr>
          <p:nvPr/>
        </p:nvSpPr>
        <p:spPr>
          <a:xfrm xmlns:a="http://schemas.openxmlformats.org/drawingml/2006/main">
            <a:off x="733425" y="258127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직업 선택과 한 턴 처리를 메서드로 나누면</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실행 흐름을 읽고 수정하기 쉬워짐</a:t>
            </a:r>
          </a:p>
        </p:txBody>
      </p:sp>
      <p:sp>
        <p:nvSpPr>
          <p:cNvPr id="6" name="">
            <a:extLst xmlns:a="http://schemas.openxmlformats.org/drawingml/2006/main">
              <a:ext uri="{FF2B5EF4-FFF2-40B4-BE49-F238E27FC236}">
                <a16:creationId xmlns:a16="http://schemas.microsoft.com/office/drawing/2014/main" id="{2F52407D-4812-493B-B2CB-ED910A33DD10}"/>
              </a:ext>
            </a:extLst>
          </p:cNvPr>
          <p:cNvSpPr>
            <a:spLocks xmlns:a="http://schemas.openxmlformats.org/drawingml/2006/main" noGrp="1"/>
          </p:cNvSpPr>
          <p:nvPr/>
        </p:nvSpPr>
        <p:spPr>
          <a:xfrm xmlns:a="http://schemas.openxmlformats.org/drawingml/2006/main">
            <a:off x="733425" y="4143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6536"/>
                </a:solidFill>
                <a:latin typeface="Malgun Gothic"/>
                <a:ea typeface="Malgun Gothic"/>
                <a:cs typeface="Malgun Gothic"/>
              </a:defRPr>
            </a:pPr>
            <a:r>
              <a:rPr sz="2475" b="1">
                <a:solidFill>
                  <a:srgbClr val="166536"/>
                </a:solidFill>
                <a:latin typeface="Malgun Gothic"/>
                <a:ea typeface="Malgun Gothic"/>
                <a:cs typeface="Malgun Gothic"/>
              </a:rPr>
              <a:t>능력치 설명과 공격 계산이 따로 있음</a:t>
            </a:r>
          </a:p>
        </p:txBody>
      </p:sp>
      <p:sp>
        <p:nvSpPr>
          <p:cNvPr id="7" name="">
            <a:extLst xmlns:a="http://schemas.openxmlformats.org/drawingml/2006/main">
              <a:ext uri="{FF2B5EF4-FFF2-40B4-BE49-F238E27FC236}">
                <a16:creationId xmlns:a16="http://schemas.microsoft.com/office/drawing/2014/main" id="{B8178165-0DF2-480D-81D9-02F4715A08BA}"/>
              </a:ext>
            </a:extLst>
          </p:cNvPr>
          <p:cNvSpPr>
            <a:spLocks xmlns:a="http://schemas.openxmlformats.org/drawingml/2006/main" noGrp="1"/>
          </p:cNvSpPr>
          <p:nvPr/>
        </p:nvSpPr>
        <p:spPr>
          <a:xfrm xmlns:a="http://schemas.openxmlformats.org/drawingml/2006/main">
            <a:off x="733425" y="4962525"/>
            <a:ext cx="10668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수치를 바꿀 때 설명과 계산을 함께 고쳐야 함</a:t>
            </a:r>
          </a:p>
          <a:p xmlns:a="http://schemas.openxmlformats.org/drawingml/2006/main">
            <a:pPr>
              <a:defRPr sz="2250" b="0">
                <a:solidFill>
                  <a:srgbClr val="20372C"/>
                </a:solidFill>
                <a:latin typeface="Malgun Gothic"/>
                <a:ea typeface="Malgun Gothic"/>
                <a:cs typeface="Malgun Gothic"/>
              </a:defRPr>
            </a:pPr>
            <a:r>
              <a:rPr sz="2250" b="0">
                <a:solidFill>
                  <a:srgbClr val="20372C"/>
                </a:solidFill>
                <a:latin typeface="Malgun Gothic"/>
                <a:ea typeface="Malgun Gothic"/>
                <a:cs typeface="Malgun Gothic"/>
              </a:rPr>
              <a:t>직업별 설명 메서드와 공통 수치로 정리할 수 있음</a:t>
            </a:r>
          </a:p>
        </p:txBody>
      </p:sp>
    </p:spTree>
    <p:extLst>
      <p:ext uri="{BB962C8B-B14F-4D97-AF65-F5344CB8AC3E}">
        <p14:creationId xmlns:p14="http://schemas.microsoft.com/office/powerpoint/2010/main" val="1249325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2026-09-06T19:34:35.7690000Z</dcterms:created>
  <dcterms:modified xsi:type="dcterms:W3CDTF">2026-09-06T19:34:35.7690000Z</dcterms:modified>
</coreProperties>
</file>